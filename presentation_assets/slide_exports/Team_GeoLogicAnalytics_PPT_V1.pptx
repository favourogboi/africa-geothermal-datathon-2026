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39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87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194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9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4FC3C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 AFRICA GEOTHERMAL DATATHON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Integrated Geothermal District Heating</a:t>
            </a:r>
            <a:endParaRPr lang="en-US" sz="300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Cooling System for Utrecht, Netherlands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77240" y="2514600"/>
            <a:ext cx="2194560" cy="841248"/>
          </a:xfrm>
          <a:prstGeom prst="roundRect">
            <a:avLst>
              <a:gd name="adj" fmla="val 10870"/>
            </a:avLst>
          </a:prstGeom>
          <a:solidFill>
            <a:srgbClr val="16395E"/>
          </a:solidFill>
          <a:ln w="15875">
            <a:solidFill>
              <a:srgbClr val="D94F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59689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4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10.5 MWth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32688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FC3D2"/>
                </a:solidFill>
              </a:rPr>
              <a:t>Heating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2514600"/>
            <a:ext cx="2194560" cy="841248"/>
          </a:xfrm>
          <a:prstGeom prst="roundRect">
            <a:avLst>
              <a:gd name="adj" fmla="val 10870"/>
            </a:avLst>
          </a:prstGeom>
          <a:solidFill>
            <a:srgbClr val="16395E"/>
          </a:solidFill>
          <a:ln w="15875">
            <a:solidFill>
              <a:srgbClr val="1C8C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37560" y="259689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5.0 MWth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55848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FC3D2"/>
                </a:solidFill>
              </a:rPr>
              <a:t>Cooling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23560" y="2514600"/>
            <a:ext cx="2194560" cy="841248"/>
          </a:xfrm>
          <a:prstGeom prst="roundRect">
            <a:avLst>
              <a:gd name="adj" fmla="val 10870"/>
            </a:avLst>
          </a:prstGeom>
          <a:solidFill>
            <a:srgbClr val="16395E"/>
          </a:solidFill>
          <a:ln w="15875">
            <a:solidFill>
              <a:srgbClr val="E8B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60720" y="259689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€74/MWh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779008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FC3D2"/>
                </a:solidFill>
              </a:rPr>
              <a:t>LCoE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3611880"/>
            <a:ext cx="10607040" cy="2377440"/>
          </a:xfrm>
          <a:prstGeom prst="roundRect">
            <a:avLst>
              <a:gd name="adj" fmla="val 3077"/>
            </a:avLst>
          </a:prstGeom>
          <a:solidFill>
            <a:srgbClr val="16395E"/>
          </a:solidFill>
          <a:ln/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37673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B84B"/>
                </a:solidFill>
              </a:rPr>
              <a:t>TEAM </a:t>
            </a:r>
            <a:r>
              <a:rPr lang="en-US" sz="1300" b="1" kern="0" spc="200" dirty="0" err="1">
                <a:solidFill>
                  <a:srgbClr val="E8B84B"/>
                </a:solidFill>
              </a:rPr>
              <a:t>GeoLogic</a:t>
            </a:r>
            <a:r>
              <a:rPr lang="en-US" sz="1300" b="1" kern="0" spc="200" dirty="0">
                <a:solidFill>
                  <a:srgbClr val="E8B84B"/>
                </a:solidFill>
              </a:rPr>
              <a:t> Analytics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4206240"/>
            <a:ext cx="4494628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b="1" dirty="0">
              <a:solidFill>
                <a:srgbClr val="16395E"/>
              </a:solidFill>
            </a:endParaRPr>
          </a:p>
          <a:p>
            <a:r>
              <a:rPr lang="en-US" sz="1300" b="1" dirty="0">
                <a:solidFill>
                  <a:schemeClr val="bg1"/>
                </a:solidFill>
              </a:rPr>
              <a:t>Uadia Moses </a:t>
            </a:r>
            <a:r>
              <a:rPr lang="en-US" sz="1300" b="1" dirty="0" err="1">
                <a:solidFill>
                  <a:schemeClr val="bg1"/>
                </a:solidFill>
              </a:rPr>
              <a:t>Imoukhedeh</a:t>
            </a:r>
            <a:r>
              <a:rPr lang="en-US" sz="1250" b="1" dirty="0">
                <a:solidFill>
                  <a:schemeClr val="bg1"/>
                </a:solidFill>
              </a:rPr>
              <a:t>			</a:t>
            </a:r>
            <a:r>
              <a:rPr lang="en-US" sz="900" dirty="0">
                <a:solidFill>
                  <a:schemeClr val="bg1">
                    <a:lumMod val="85000"/>
                  </a:schemeClr>
                </a:solidFill>
              </a:rPr>
              <a:t>SPE ID </a:t>
            </a:r>
            <a:r>
              <a:rPr lang="en-US" sz="1100" dirty="0">
                <a:solidFill>
                  <a:srgbClr val="4FC3C3"/>
                </a:solidFill>
              </a:rPr>
              <a:t>5174626</a:t>
            </a:r>
          </a:p>
          <a:p>
            <a:r>
              <a:rPr lang="en-US" sz="1000" dirty="0">
                <a:solidFill>
                  <a:schemeClr val="bg1">
                    <a:lumMod val="85000"/>
                  </a:schemeClr>
                </a:solidFill>
              </a:rPr>
              <a:t>Project Lead · Subsurface &amp; Resource Assessment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17920" y="4206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b="1" dirty="0">
              <a:solidFill>
                <a:srgbClr val="FFFFFF"/>
              </a:solidFill>
            </a:endParaRPr>
          </a:p>
          <a:p>
            <a:endParaRPr lang="en-US" sz="1250" b="1" dirty="0">
              <a:solidFill>
                <a:srgbClr val="FFFFFF"/>
              </a:solidFill>
            </a:endParaRPr>
          </a:p>
          <a:p>
            <a:r>
              <a:rPr lang="en-US" sz="1300" b="1" dirty="0" err="1">
                <a:solidFill>
                  <a:srgbClr val="FFFFFF"/>
                </a:solidFill>
              </a:rPr>
              <a:t>Ogundimu</a:t>
            </a:r>
            <a:r>
              <a:rPr lang="en-US" sz="1300" b="1" dirty="0">
                <a:solidFill>
                  <a:srgbClr val="FFFFFF"/>
                </a:solidFill>
              </a:rPr>
              <a:t> Samuel Oluwaseun </a:t>
            </a:r>
            <a:r>
              <a:rPr lang="en-US" sz="1250" b="1" dirty="0">
                <a:solidFill>
                  <a:srgbClr val="FFFFFF"/>
                </a:solidFill>
              </a:rPr>
              <a:t>		</a:t>
            </a:r>
            <a:r>
              <a:rPr lang="en-US" sz="900" dirty="0">
                <a:solidFill>
                  <a:schemeClr val="bg1">
                    <a:lumMod val="85000"/>
                  </a:schemeClr>
                </a:solidFill>
              </a:rPr>
              <a:t>SPE ID</a:t>
            </a:r>
            <a:r>
              <a:rPr lang="en-US" sz="1100" dirty="0">
                <a:solidFill>
                  <a:srgbClr val="4FC3C3"/>
                </a:solidFill>
              </a:rPr>
              <a:t> 5408045</a:t>
            </a:r>
          </a:p>
          <a:p>
            <a:r>
              <a:rPr lang="en-US" sz="1000" dirty="0">
                <a:solidFill>
                  <a:schemeClr val="bg1">
                    <a:lumMod val="85000"/>
                  </a:schemeClr>
                </a:solidFill>
              </a:rPr>
              <a:t>Surface Facilities &amp; Thermodynamic Design</a:t>
            </a:r>
          </a:p>
          <a:p>
            <a:endParaRPr lang="en-US" sz="1100" dirty="0">
              <a:solidFill>
                <a:srgbClr val="4FC3C3"/>
              </a:solidFill>
            </a:endParaRP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05840" y="4773168"/>
            <a:ext cx="4494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00" b="1" dirty="0">
              <a:solidFill>
                <a:srgbClr val="FFFFFF"/>
              </a:solidFill>
            </a:endParaRPr>
          </a:p>
          <a:p>
            <a:r>
              <a:rPr lang="en-US" sz="1300" b="1" dirty="0" err="1">
                <a:solidFill>
                  <a:srgbClr val="FFFFFF"/>
                </a:solidFill>
              </a:rPr>
              <a:t>Akanmu</a:t>
            </a:r>
            <a:r>
              <a:rPr lang="en-US" sz="1300" b="1" dirty="0">
                <a:solidFill>
                  <a:srgbClr val="FFFFFF"/>
                </a:solidFill>
              </a:rPr>
              <a:t> Oluwaseun Emmanuel 		</a:t>
            </a:r>
            <a:r>
              <a:rPr lang="en-US" sz="900" dirty="0">
                <a:solidFill>
                  <a:schemeClr val="bg1">
                    <a:lumMod val="85000"/>
                  </a:schemeClr>
                </a:solidFill>
              </a:rPr>
              <a:t>SPE ID </a:t>
            </a:r>
            <a:r>
              <a:rPr lang="en-US" sz="1100" dirty="0">
                <a:solidFill>
                  <a:srgbClr val="4FC3C3"/>
                </a:solidFill>
              </a:rPr>
              <a:t>5436014</a:t>
            </a:r>
          </a:p>
          <a:p>
            <a:r>
              <a:rPr lang="en-US" sz="1000" dirty="0">
                <a:solidFill>
                  <a:schemeClr val="bg1">
                    <a:lumMod val="85000"/>
                  </a:schemeClr>
                </a:solidFill>
              </a:rPr>
              <a:t>Presentation, Storytelling &amp; </a:t>
            </a:r>
            <a:r>
              <a:rPr lang="en-US" sz="1000" dirty="0" err="1">
                <a:solidFill>
                  <a:schemeClr val="bg1">
                    <a:lumMod val="85000"/>
                  </a:schemeClr>
                </a:solidFill>
              </a:rPr>
              <a:t>Visualisation</a:t>
            </a:r>
            <a:endParaRPr lang="en-US" sz="10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17920" y="4773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00" b="1" dirty="0">
              <a:solidFill>
                <a:srgbClr val="FFFFFF"/>
              </a:solidFill>
            </a:endParaRPr>
          </a:p>
          <a:p>
            <a:r>
              <a:rPr lang="en-US" sz="1300" b="1" dirty="0" err="1">
                <a:solidFill>
                  <a:srgbClr val="FFFFFF"/>
                </a:solidFill>
              </a:rPr>
              <a:t>Adejor</a:t>
            </a:r>
            <a:r>
              <a:rPr lang="en-US" sz="1300" b="1" dirty="0">
                <a:solidFill>
                  <a:srgbClr val="FFFFFF"/>
                </a:solidFill>
              </a:rPr>
              <a:t> Friday Emmanuel 			</a:t>
            </a:r>
            <a:r>
              <a:rPr lang="en-US" sz="900" dirty="0">
                <a:solidFill>
                  <a:schemeClr val="bg1">
                    <a:lumMod val="85000"/>
                  </a:schemeClr>
                </a:solidFill>
              </a:rPr>
              <a:t>SPE ID</a:t>
            </a:r>
            <a:r>
              <a:rPr lang="en-US" sz="900" dirty="0">
                <a:solidFill>
                  <a:srgbClr val="4FC3C3"/>
                </a:solidFill>
              </a:rPr>
              <a:t> </a:t>
            </a:r>
            <a:r>
              <a:rPr lang="en-US" sz="1100" dirty="0">
                <a:solidFill>
                  <a:srgbClr val="4FC3C3"/>
                </a:solidFill>
              </a:rPr>
              <a:t>5510461</a:t>
            </a:r>
          </a:p>
          <a:p>
            <a:r>
              <a:rPr lang="en-US" sz="1000" dirty="0">
                <a:solidFill>
                  <a:schemeClr val="bg1">
                    <a:lumMod val="85000"/>
                  </a:schemeClr>
                </a:solidFill>
              </a:rPr>
              <a:t>Well Scouting &amp; </a:t>
            </a:r>
            <a:r>
              <a:rPr lang="en-US" sz="1000" dirty="0" err="1">
                <a:solidFill>
                  <a:schemeClr val="bg1">
                    <a:lumMod val="85000"/>
                  </a:schemeClr>
                </a:solidFill>
              </a:rPr>
              <a:t>ThermoGIS</a:t>
            </a:r>
            <a:r>
              <a:rPr lang="en-US" sz="1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bg1">
                    <a:lumMod val="85000"/>
                  </a:schemeClr>
                </a:solidFill>
              </a:rPr>
              <a:t>Characterisation</a:t>
            </a:r>
            <a:endParaRPr lang="en-US" sz="10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005840" y="5340096"/>
            <a:ext cx="4494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b="1" dirty="0">
              <a:solidFill>
                <a:srgbClr val="FFFFFF"/>
              </a:solidFill>
            </a:endParaRPr>
          </a:p>
          <a:p>
            <a:r>
              <a:rPr lang="en-US" sz="1300" b="1" dirty="0">
                <a:solidFill>
                  <a:srgbClr val="FFFFFF"/>
                </a:solidFill>
              </a:rPr>
              <a:t>Favour Ifeanyichukwu </a:t>
            </a:r>
            <a:r>
              <a:rPr lang="en-US" sz="1300" b="1" dirty="0" err="1">
                <a:solidFill>
                  <a:srgbClr val="FFFFFF"/>
                </a:solidFill>
              </a:rPr>
              <a:t>Ogboi</a:t>
            </a:r>
            <a:r>
              <a:rPr lang="en-US" sz="1300" b="1" dirty="0">
                <a:solidFill>
                  <a:srgbClr val="FFFFFF"/>
                </a:solidFill>
              </a:rPr>
              <a:t> </a:t>
            </a:r>
            <a:r>
              <a:rPr lang="en-US" sz="1250" b="1" dirty="0">
                <a:solidFill>
                  <a:srgbClr val="FFFFFF"/>
                </a:solidFill>
              </a:rPr>
              <a:t>		</a:t>
            </a:r>
            <a:r>
              <a:rPr lang="en-US" sz="900" dirty="0">
                <a:solidFill>
                  <a:schemeClr val="bg1">
                    <a:lumMod val="85000"/>
                  </a:schemeClr>
                </a:solidFill>
              </a:rPr>
              <a:t>SPE ID</a:t>
            </a:r>
            <a:r>
              <a:rPr lang="en-US" sz="900" dirty="0">
                <a:solidFill>
                  <a:srgbClr val="4FC3C3"/>
                </a:solidFill>
              </a:rPr>
              <a:t> </a:t>
            </a:r>
            <a:r>
              <a:rPr lang="en-US" sz="1100" dirty="0">
                <a:solidFill>
                  <a:srgbClr val="4FC3C3"/>
                </a:solidFill>
              </a:rPr>
              <a:t>5898562</a:t>
            </a:r>
          </a:p>
          <a:p>
            <a:r>
              <a:rPr lang="en-US" sz="1000" dirty="0">
                <a:solidFill>
                  <a:schemeClr val="bg1">
                    <a:lumMod val="85000"/>
                  </a:schemeClr>
                </a:solidFill>
              </a:rPr>
              <a:t>Data Engineering &amp; Economic Modelling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7240" y="638251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Team_GeoLogicAnalytics_PPT_V1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4F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FRAMING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 &amp; Our Central Insight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1B2A38"/>
                </a:solidFill>
              </a:rPr>
              <a:t>The brief demands a coherent system — not a single well — delivering firm heating and cooling, sustainably and economically, from a medium-temperature aquifer.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37033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1248" y="2459736"/>
            <a:ext cx="566928" cy="566928"/>
          </a:xfrm>
          <a:prstGeom prst="ellipse">
            <a:avLst/>
          </a:prstGeom>
          <a:solidFill>
            <a:srgbClr val="D94F2A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311" y="2595799"/>
            <a:ext cx="294803" cy="294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24231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A47"/>
                </a:solidFill>
              </a:rPr>
              <a:t>10 MWth Heating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554480" y="2788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7080"/>
                </a:solidFill>
              </a:rPr>
              <a:t>From a low-enthalpy reservoir (70–77 °C).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17720" y="2240280"/>
            <a:ext cx="37033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18888" y="2459736"/>
            <a:ext cx="566928" cy="566928"/>
          </a:xfrm>
          <a:prstGeom prst="ellipse">
            <a:avLst/>
          </a:prstGeom>
          <a:solidFill>
            <a:srgbClr val="1C8C8C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4951" y="2595799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32120" y="24231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A47"/>
                </a:solidFill>
              </a:rPr>
              <a:t>5 MWth Cooling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532120" y="2788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7080"/>
                </a:solidFill>
              </a:rPr>
              <a:t>Year-round, balanced seasonally.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" y="3657600"/>
            <a:ext cx="37033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41248" y="3877056"/>
            <a:ext cx="566928" cy="566928"/>
          </a:xfrm>
          <a:prstGeom prst="ellipse">
            <a:avLst/>
          </a:prstGeom>
          <a:solidFill>
            <a:srgbClr val="2C7A4B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311" y="4013119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38404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A47"/>
                </a:solidFill>
              </a:rPr>
              <a:t>Low-Carbon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1554480" y="4206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7080"/>
                </a:solidFill>
              </a:rPr>
              <a:t>Minimise fossil &amp; grid electricity.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617720" y="3657600"/>
            <a:ext cx="37033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18888" y="3877056"/>
            <a:ext cx="566928" cy="566928"/>
          </a:xfrm>
          <a:prstGeom prst="ellipse">
            <a:avLst/>
          </a:prstGeom>
          <a:solidFill>
            <a:srgbClr val="16395E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951" y="4013119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32120" y="38404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A47"/>
                </a:solidFill>
              </a:rPr>
              <a:t>Flexibility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5532120" y="4206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7080"/>
                </a:solidFill>
              </a:rPr>
              <a:t>Bridge constant supply vs seasonal demand.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8549640" y="1371600"/>
            <a:ext cx="3017520" cy="4892040"/>
          </a:xfrm>
          <a:prstGeom prst="roundRect">
            <a:avLst>
              <a:gd name="adj" fmla="val 3030"/>
            </a:avLst>
          </a:prstGeom>
          <a:solidFill>
            <a:srgbClr val="0E2A47"/>
          </a:solidFill>
          <a:ln/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8796528" y="1600200"/>
            <a:ext cx="731520" cy="731520"/>
          </a:xfrm>
          <a:prstGeom prst="ellipse">
            <a:avLst/>
          </a:prstGeom>
          <a:solidFill>
            <a:srgbClr val="E8B84B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2093" y="1775765"/>
            <a:ext cx="380390" cy="38039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796528" y="245059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E8B84B"/>
                </a:solidFill>
              </a:rPr>
              <a:t>OUR CENTRAL INSIGHT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8796528" y="2834640"/>
            <a:ext cx="2606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Transmissivity beats temperature.
</a:t>
            </a:r>
            <a:endParaRPr lang="en-US" sz="16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D6E4EC"/>
                </a:solidFill>
              </a:rPr>
              <a:t>For a low-enthalpy resource, the fluid volume the reservoir delivers matters more than how hot it is. A hot but tight well produces no usable power.</a:t>
            </a:r>
            <a:endParaRPr lang="en-US" sz="1600" dirty="0"/>
          </a:p>
        </p:txBody>
      </p:sp>
      <p:sp>
        <p:nvSpPr>
          <p:cNvPr id="31" name="Text 24"/>
          <p:cNvSpPr/>
          <p:nvPr/>
        </p:nvSpPr>
        <p:spPr>
          <a:xfrm>
            <a:off x="8796528" y="54864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A65A"/>
                </a:solidFill>
              </a:rPr>
              <a:t>PKP-01:  </a:t>
            </a:r>
            <a:r>
              <a:rPr lang="en-US" sz="1200" dirty="0">
                <a:solidFill>
                  <a:srgbClr val="D6E4EC"/>
                </a:solidFill>
              </a:rPr>
              <a:t>88 °C but 0.1 Dm → not viable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2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8B84B"/>
                </a:solidFill>
              </a:rPr>
              <a:t>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Raw Logs to a Bankable System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564640"/>
            <a:ext cx="2542032" cy="3200400"/>
          </a:xfrm>
          <a:prstGeom prst="roundRect">
            <a:avLst>
              <a:gd name="adj" fmla="val 3597"/>
            </a:avLst>
          </a:prstGeom>
          <a:solidFill>
            <a:srgbClr val="16395E"/>
          </a:solidFill>
          <a:ln w="15875">
            <a:solidFill>
              <a:srgbClr val="D94F2A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91056" y="1857248"/>
            <a:ext cx="658368" cy="658368"/>
          </a:xfrm>
          <a:prstGeom prst="ellipse">
            <a:avLst/>
          </a:prstGeom>
          <a:solidFill>
            <a:srgbClr val="D94F2A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064" y="2015256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616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4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298196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Engineering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41248" y="353060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7E2"/>
                </a:solidFill>
              </a:rPr>
              <a:t>Ingest &amp; QC four well logs; validate depths; engineer petrophysical features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182112" y="2799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B84B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429000" y="1564640"/>
            <a:ext cx="2542032" cy="3200400"/>
          </a:xfrm>
          <a:prstGeom prst="roundRect">
            <a:avLst>
              <a:gd name="adj" fmla="val 3597"/>
            </a:avLst>
          </a:prstGeom>
          <a:solidFill>
            <a:srgbClr val="16395E"/>
          </a:solidFill>
          <a:ln w="15875">
            <a:solidFill>
              <a:srgbClr val="F2A65A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379976" y="1857248"/>
            <a:ext cx="658368" cy="658368"/>
          </a:xfrm>
          <a:prstGeom prst="ellipse">
            <a:avLst/>
          </a:prstGeom>
          <a:solidFill>
            <a:srgbClr val="F2A65A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984" y="2015256"/>
            <a:ext cx="342351" cy="34235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11880" y="2616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A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593592" y="298196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Resource Screening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30168" y="353060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7E2"/>
                </a:solidFill>
              </a:rPr>
              <a:t>Rank candidates on transmissivity; scout ThermoGIS corridors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971032" y="2799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B84B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217920" y="1564640"/>
            <a:ext cx="2542032" cy="3200400"/>
          </a:xfrm>
          <a:prstGeom prst="roundRect">
            <a:avLst>
              <a:gd name="adj" fmla="val 3597"/>
            </a:avLst>
          </a:prstGeom>
          <a:solidFill>
            <a:srgbClr val="16395E"/>
          </a:solidFill>
          <a:ln w="15875">
            <a:solidFill>
              <a:srgbClr val="1C8C8C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168896" y="1857248"/>
            <a:ext cx="658368" cy="658368"/>
          </a:xfrm>
          <a:prstGeom prst="ellipse">
            <a:avLst/>
          </a:prstGeom>
          <a:solidFill>
            <a:srgbClr val="1C8C8C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6904" y="2015256"/>
            <a:ext cx="342351" cy="34235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0" y="2616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382512" y="298196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System Design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419088" y="353060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7E2"/>
                </a:solidFill>
              </a:rPr>
              <a:t>Size heat exchanger, heat pump, chiller, ATES &amp; storage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759952" y="2799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B84B"/>
                </a:solidFill>
              </a:rPr>
              <a:t>→</a:t>
            </a:r>
            <a:endParaRPr lang="en-US" sz="2200" dirty="0"/>
          </a:p>
        </p:txBody>
      </p:sp>
      <p:sp>
        <p:nvSpPr>
          <p:cNvPr id="26" name="Shape 21"/>
          <p:cNvSpPr/>
          <p:nvPr/>
        </p:nvSpPr>
        <p:spPr>
          <a:xfrm>
            <a:off x="9006840" y="1564640"/>
            <a:ext cx="2542032" cy="3200400"/>
          </a:xfrm>
          <a:prstGeom prst="roundRect">
            <a:avLst>
              <a:gd name="adj" fmla="val 3597"/>
            </a:avLst>
          </a:prstGeom>
          <a:solidFill>
            <a:srgbClr val="16395E"/>
          </a:solidFill>
          <a:ln w="15875">
            <a:solidFill>
              <a:srgbClr val="E8B84B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9957816" y="1857248"/>
            <a:ext cx="658368" cy="658368"/>
          </a:xfrm>
          <a:prstGeom prst="ellipse">
            <a:avLst/>
          </a:prstGeom>
          <a:solidFill>
            <a:srgbClr val="E8B84B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15824" y="2015256"/>
            <a:ext cx="342351" cy="342351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189720" y="2616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9171432" y="298196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Economics &amp; Risk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9208008" y="353060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7E2"/>
                </a:solidFill>
              </a:rPr>
              <a:t>Depth-based CAPEX, LCoE &amp; 10,000-run Monte Carlo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640080" y="5781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FC3D2"/>
                </a:solidFill>
              </a:rPr>
              <a:t>Engineering rigour and evaluation discipline come before architectural complexity — every parameter is traceable to data or the surface design report.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3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  <p:sp>
        <p:nvSpPr>
          <p:cNvPr id="35" name="Text 26">
            <a:extLst>
              <a:ext uri="{FF2B5EF4-FFF2-40B4-BE49-F238E27FC236}">
                <a16:creationId xmlns:a16="http://schemas.microsoft.com/office/drawing/2014/main" id="{97AFFA04-06B8-5501-ABE2-4244C2800C23}"/>
              </a:ext>
            </a:extLst>
          </p:cNvPr>
          <p:cNvSpPr/>
          <p:nvPr/>
        </p:nvSpPr>
        <p:spPr>
          <a:xfrm>
            <a:off x="655320" y="5070374"/>
            <a:ext cx="10881360" cy="608533"/>
          </a:xfrm>
          <a:prstGeom prst="rect">
            <a:avLst/>
          </a:prstGeom>
          <a:solidFill>
            <a:srgbClr val="16395E"/>
          </a:solidFill>
          <a:ln w="6350">
            <a:solidFill>
              <a:srgbClr val="FFC0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FC3D2"/>
                </a:solidFill>
              </a:rPr>
              <a:t>Data-driven screening reduced four candidate wells to a transmissivity-ranked portfolio, identifying BLT-01 and GLA-01 as the highest-value production pair while reserving GLA-02 as a contingency target.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4F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FINDING 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Engineering: Getting the Basics Right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548640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assets/missing_data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394" y="1508760"/>
            <a:ext cx="4125773" cy="2148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767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C7080"/>
                </a:solidFill>
              </a:rPr>
              <a:t>Missing-data audit — −999.25 null sentinel detected &amp; flagged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assets/md_vs_tvd_vali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7592" y="4206240"/>
            <a:ext cx="4151376" cy="1828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C7080"/>
                </a:solidFill>
              </a:rPr>
              <a:t>MD vs TVD — depth correction for the deviated well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6355080" y="1463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A47"/>
                </a:solidFill>
              </a:rPr>
              <a:t>Three quiet errors most teams will carry forward: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355080" y="205740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6355080" y="2057400"/>
            <a:ext cx="82296" cy="1234440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6583680" y="2194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4F2A"/>
                </a:solidFill>
              </a:rPr>
              <a:t>Caught a hidden null code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583680" y="25603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B2A38"/>
                </a:solidFill>
              </a:rPr>
              <a:t>The −999.25 sentinel was mapped to true missing values before any statistics were computed.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355080" y="342900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355080" y="3429000"/>
            <a:ext cx="82296" cy="1234440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583680" y="3566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</a:rPr>
              <a:t>Caught a labelling error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583680" y="39319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B2A38"/>
                </a:solidFill>
              </a:rPr>
              <a:t>A ThermoGIS sheet headed “PKP-01” carried BLT-01 coordinates — flagged and corrected before screening.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355080" y="480060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6355080" y="4800600"/>
            <a:ext cx="82296" cy="1234440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6583680" y="4937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8C8C"/>
                </a:solidFill>
              </a:rPr>
              <a:t>Caught the depth trap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6583680" y="53035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B2A38"/>
                </a:solidFill>
              </a:rPr>
              <a:t>Target depths in along-hole MD were converted to TVD via the well-path survey — or every temperature estimate would be wrong.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8C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FINDING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Transmissivity Drives Viability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5349240" cy="4846320"/>
          </a:xfrm>
          <a:prstGeom prst="roundRect">
            <a:avLst>
              <a:gd name="adj" fmla="val 1132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assets/transmissivit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272572"/>
            <a:ext cx="5120640" cy="30443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943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C7080"/>
                </a:solidFill>
              </a:rPr>
              <a:t>Transmissivity ranking across all targets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126480" y="1417320"/>
            <a:ext cx="54406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assets/temp_vs_transmissiv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162" y="1508760"/>
            <a:ext cx="4570171" cy="31089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470916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C7080"/>
                </a:solidFill>
              </a:rPr>
              <a:t>Viability trade-space — bubble size ∝ thermal power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6126480" y="50749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126480" y="5074920"/>
            <a:ext cx="82296" cy="1188720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291072" y="5166360"/>
            <a:ext cx="2395728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31.1 Dm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6309360" y="5740603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C70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REINJ-01 — best in class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915400" y="50749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915400" y="5074920"/>
            <a:ext cx="82296" cy="1188720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9079992" y="5166360"/>
            <a:ext cx="2395728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D94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PKP-01</a:t>
            </a: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9098280" y="5740603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C70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 °C but 0.1 Dm → useless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5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8C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FINDING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Subsurface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7132320" cy="45720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325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Well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6596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Role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43400" y="14630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Temp °C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40680" y="14630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Flow m³/h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1463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Trans. Dm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1920240"/>
            <a:ext cx="7132320" cy="603504"/>
          </a:xfrm>
          <a:prstGeom prst="rect">
            <a:avLst/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0080" y="1920240"/>
            <a:ext cx="82296" cy="603504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13232" y="192024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4F2A"/>
                </a:solidFill>
              </a:rPr>
              <a:t>BLT-01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965960" y="1920240"/>
            <a:ext cx="2377440" cy="60350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8"/>
                </a:solidFill>
              </a:rPr>
              <a:t>Validated Production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43400" y="192024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E2A47"/>
                </a:solidFill>
              </a:rPr>
              <a:t>77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40680" y="1920240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E2A47"/>
                </a:solidFill>
              </a:rPr>
              <a:t>105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19202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A47"/>
                </a:solidFill>
              </a:rPr>
              <a:t>9.3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2523744"/>
            <a:ext cx="7132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0080" y="2523744"/>
            <a:ext cx="82296" cy="603504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13232" y="2523744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8C8C"/>
                </a:solidFill>
              </a:rPr>
              <a:t>GLA-01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965960" y="2523744"/>
            <a:ext cx="2377440" cy="60350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8"/>
                </a:solidFill>
              </a:rPr>
              <a:t>Optimised Corridor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43400" y="2523744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E2A47"/>
                </a:solidFill>
              </a:rPr>
              <a:t>70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40680" y="2523744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E2A47"/>
                </a:solidFill>
              </a:rPr>
              <a:t>140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83680" y="252374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A47"/>
                </a:solidFill>
              </a:rPr>
              <a:t>15.2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3127248"/>
            <a:ext cx="7132320" cy="603504"/>
          </a:xfrm>
          <a:prstGeom prst="rect">
            <a:avLst/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40080" y="3127248"/>
            <a:ext cx="82296" cy="603504"/>
          </a:xfrm>
          <a:prstGeom prst="rect">
            <a:avLst/>
          </a:prstGeom>
          <a:solidFill>
            <a:srgbClr val="5C70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13232" y="3127248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C7080"/>
                </a:solidFill>
              </a:rPr>
              <a:t>GLA-02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965960" y="3127248"/>
            <a:ext cx="2377440" cy="60350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8"/>
                </a:solidFill>
              </a:rPr>
              <a:t>Backup / Contingency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343400" y="3127248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E2A47"/>
                </a:solidFill>
              </a:rPr>
              <a:t>71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40680" y="3127248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E2A47"/>
                </a:solidFill>
              </a:rPr>
              <a:t>132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583680" y="312724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A47"/>
                </a:solidFill>
              </a:rPr>
              <a:t>13.4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3730752"/>
            <a:ext cx="7132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40080" y="3730752"/>
            <a:ext cx="82296" cy="603504"/>
          </a:xfrm>
          <a:prstGeom prst="rect">
            <a:avLst/>
          </a:prstGeom>
          <a:solidFill>
            <a:srgbClr val="1639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13232" y="3730752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95E"/>
                </a:solidFill>
              </a:rPr>
              <a:t>REINJ-01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965960" y="3730752"/>
            <a:ext cx="2377440" cy="60350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8"/>
                </a:solidFill>
              </a:rPr>
              <a:t>Reinjection Corridor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43400" y="3730752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E2A47"/>
                </a:solidFill>
              </a:rPr>
              <a:t>55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440680" y="3730752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E2A47"/>
                </a:solidFill>
              </a:rPr>
              <a:t>192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583680" y="373075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A47"/>
                </a:solidFill>
              </a:rPr>
              <a:t>31.1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4526280"/>
            <a:ext cx="7132320" cy="1737360"/>
          </a:xfrm>
          <a:prstGeom prst="roundRect">
            <a:avLst>
              <a:gd name="adj" fmla="val 4211"/>
            </a:avLst>
          </a:prstGeom>
          <a:solidFill>
            <a:srgbClr val="0E2A47"/>
          </a:solidFill>
          <a:ln/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14400" y="47091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4FC3C3"/>
                </a:solidFill>
              </a:rPr>
              <a:t>Production doublet:  </a:t>
            </a:r>
            <a:r>
              <a:rPr lang="en-US" sz="1300" dirty="0">
                <a:solidFill>
                  <a:srgbClr val="D6E4EC"/>
                </a:solidFill>
              </a:rPr>
              <a:t>BLT-01 + GLA-01 deliver 245 m³/h of blended 73 °C brine. GLA-02 is held in reserve. REINJ-01 — the highest-injectivity corridor at 31.1 Dm — safely accepts the cooled brine and maintains reservoir pressure.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955280" y="1463040"/>
            <a:ext cx="3611880" cy="480060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092440" y="157276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8C8C"/>
                </a:solidFill>
              </a:rPr>
              <a:t>GLA-01 — ThermoGIS Evidence</a:t>
            </a:r>
            <a:endParaRPr lang="en-US" sz="1250" dirty="0"/>
          </a:p>
        </p:txBody>
      </p:sp>
      <p:pic>
        <p:nvPicPr>
          <p:cNvPr id="43" name="Image 0" descr="assets/gla01_thermogis_properti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7499" y="1965960"/>
            <a:ext cx="2847442" cy="4114800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8C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DESIGN · FINDING 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 at a Glance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2708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98248" y="1536192"/>
            <a:ext cx="9210744" cy="3154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4937760"/>
            <a:ext cx="365760" cy="109728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280160" y="48280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8"/>
                </a:solidFill>
              </a:rPr>
              <a:t>Hot brine / heating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566160" y="4937760"/>
            <a:ext cx="365760" cy="109728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023360" y="48280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8"/>
                </a:solidFill>
              </a:rPr>
              <a:t>Cooling / aquifer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309360" y="4937760"/>
            <a:ext cx="365760" cy="109728"/>
          </a:xfrm>
          <a:prstGeom prst="rect">
            <a:avLst/>
          </a:prstGeom>
          <a:solidFill>
            <a:srgbClr val="5C70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766560" y="48280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8"/>
                </a:solidFill>
              </a:rPr>
              <a:t>Electricity (solar)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525780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822960" y="5440680"/>
            <a:ext cx="502920" cy="502920"/>
          </a:xfrm>
          <a:prstGeom prst="ellipse">
            <a:avLst/>
          </a:prstGeom>
          <a:solidFill>
            <a:srgbClr val="D94F2A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1" y="5561381"/>
            <a:ext cx="261518" cy="26151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44752" y="54041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2A47"/>
                </a:solidFill>
              </a:rPr>
              <a:t>Geothermal Doublet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804672" y="5879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900" dirty="0">
                <a:solidFill>
                  <a:srgbClr val="5C7080"/>
                </a:solidFill>
              </a:rPr>
              <a:t>BLT-01 + GLA-01 → 245 m³/h of 73 °C brine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3419856" y="525780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3602736" y="5440680"/>
            <a:ext cx="502920" cy="502920"/>
          </a:xfrm>
          <a:prstGeom prst="ellipse">
            <a:avLst/>
          </a:prstGeom>
          <a:solidFill>
            <a:srgbClr val="16395E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3437" y="556138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224528" y="54041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2A47"/>
                </a:solidFill>
              </a:rPr>
              <a:t>Energy Centre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3584448" y="5879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900" dirty="0">
                <a:solidFill>
                  <a:srgbClr val="5C7080"/>
                </a:solidFill>
              </a:rPr>
              <a:t>Heat exchanger + heat-pump upgrade to 70 °C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199632" y="525780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6382512" y="5440680"/>
            <a:ext cx="502920" cy="502920"/>
          </a:xfrm>
          <a:prstGeom prst="ellipse">
            <a:avLst/>
          </a:prstGeom>
          <a:solidFill>
            <a:srgbClr val="1C8C8C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213" y="5561381"/>
            <a:ext cx="261518" cy="26151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04304" y="54041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2A47"/>
                </a:solidFill>
              </a:rPr>
              <a:t>Thermal Storage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364224" y="5879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900" dirty="0">
                <a:solidFill>
                  <a:srgbClr val="5C7080"/>
                </a:solidFill>
              </a:rPr>
              <a:t>ATES seasonal wells + hot &amp; cold buffer tanks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8979408" y="525780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9162288" y="5440680"/>
            <a:ext cx="502920" cy="502920"/>
          </a:xfrm>
          <a:prstGeom prst="ellipse">
            <a:avLst/>
          </a:prstGeom>
          <a:solidFill>
            <a:srgbClr val="E8B84B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2989" y="5561381"/>
            <a:ext cx="261518" cy="26151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784080" y="54041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2A47"/>
                </a:solidFill>
              </a:rPr>
              <a:t>Solar Powered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9144000" y="5879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900" dirty="0">
                <a:solidFill>
                  <a:srgbClr val="5C7080"/>
                </a:solidFill>
              </a:rPr>
              <a:t>1.5 MW PV drives the heat pump &amp; chiller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7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4F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DESIGN · FINDING 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Thermodynamics of the Production Loop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291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4F2A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627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4F2A"/>
                </a:solidFill>
              </a:rPr>
              <a:t>BLT-01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938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080"/>
                </a:solidFill>
              </a:rPr>
              <a:t>77 °C · 105 m³/h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17373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30.33 kg/s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3291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F2A65A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4963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</a:rPr>
              <a:t>GLA-01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807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080"/>
                </a:solidFill>
              </a:rPr>
              <a:t>70 °C · 140 m³/h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68880" y="26060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40.44 kg/s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37360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C7080"/>
                </a:solidFill>
              </a:rPr>
              <a:t>+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0E2A47"/>
          </a:solidFill>
          <a:ln/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4FC3C3"/>
                </a:solidFill>
              </a:rPr>
              <a:t>BLENDED PRODUCTION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3794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 </a:t>
            </a:r>
            <a:r>
              <a:rPr lang="en-US" sz="1500" dirty="0">
                <a:solidFill>
                  <a:srgbClr val="4FC3C3"/>
                </a:solidFill>
              </a:rPr>
              <a:t>°C</a:t>
            </a:r>
            <a:r>
              <a:rPr lang="en-US" sz="1300" dirty="0">
                <a:solidFill>
                  <a:srgbClr val="D6E4EC"/>
                </a:solidFill>
              </a:rPr>
              <a:t>   ·   70.78 kg/s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297680" y="1554480"/>
            <a:ext cx="7269480" cy="1280160"/>
          </a:xfrm>
          <a:prstGeom prst="roundRect">
            <a:avLst>
              <a:gd name="adj" fmla="val 5714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26280" y="166420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4F2A"/>
                </a:solidFill>
              </a:rPr>
              <a:t>Total geothermal power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26280" y="20116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ṁ · Cp · ΔT  =  70.78 × 4.0 × (73 − 37.5)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94F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≈ 10.05 MWth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97680" y="3108960"/>
            <a:ext cx="22860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434840" y="32278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7080"/>
                </a:solidFill>
              </a:rPr>
              <a:t>Geothermal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434840" y="358444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94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10.05</a:t>
            </a:r>
            <a:r>
              <a:rPr lang="en-US" sz="1100" dirty="0">
                <a:solidFill>
                  <a:srgbClr val="5C7080"/>
                </a:solidFill>
              </a:rPr>
              <a:t> MWth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583680" y="3493008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7080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84848" y="3108960"/>
            <a:ext cx="22860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922008" y="32278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7080"/>
                </a:solidFill>
              </a:rPr>
              <a:t>+ Heat pump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922008" y="358444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0.45</a:t>
            </a:r>
            <a:r>
              <a:rPr lang="en-US" sz="1100" dirty="0">
                <a:solidFill>
                  <a:srgbClr val="5C7080"/>
                </a:solidFill>
              </a:rPr>
              <a:t> MWth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9070848" y="3493008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7080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272016" y="3108960"/>
            <a:ext cx="22860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409176" y="32278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7080"/>
                </a:solidFill>
              </a:rPr>
              <a:t>= Delivered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409176" y="358444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10.5</a:t>
            </a:r>
            <a:r>
              <a:rPr lang="en-US" sz="1100" dirty="0">
                <a:solidFill>
                  <a:srgbClr val="5C7080"/>
                </a:solidFill>
              </a:rPr>
              <a:t> MWth</a:t>
            </a:r>
            <a:endParaRPr lang="en-US" sz="2800" dirty="0"/>
          </a:p>
        </p:txBody>
      </p:sp>
      <p:sp>
        <p:nvSpPr>
          <p:cNvPr id="31" name="Shape 29"/>
          <p:cNvSpPr/>
          <p:nvPr/>
        </p:nvSpPr>
        <p:spPr>
          <a:xfrm>
            <a:off x="640080" y="4709160"/>
            <a:ext cx="10927080" cy="1508760"/>
          </a:xfrm>
          <a:prstGeom prst="roundRect">
            <a:avLst>
              <a:gd name="adj" fmla="val 6061"/>
            </a:avLst>
          </a:prstGeom>
          <a:solidFill>
            <a:srgbClr val="0E2A47"/>
          </a:solidFill>
          <a:ln/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68680" y="4983480"/>
            <a:ext cx="777240" cy="777240"/>
          </a:xfrm>
          <a:prstGeom prst="ellipse">
            <a:avLst/>
          </a:prstGeom>
          <a:solidFill>
            <a:srgbClr val="1C8C8C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8" y="5170018"/>
            <a:ext cx="404165" cy="404165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1828800" y="4864608"/>
            <a:ext cx="9555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4FC3C3"/>
                </a:solidFill>
              </a:rPr>
              <a:t>Honest engineering: </a:t>
            </a:r>
            <a:r>
              <a:rPr lang="en-US" sz="1400" dirty="0">
                <a:solidFill>
                  <a:srgbClr val="D6E4EC"/>
                </a:solidFill>
              </a:rPr>
              <a:t>geothermal supply (10.05 MWth) and the heat-pump upgrade (0.45 MWth) </a:t>
            </a:r>
            <a:r>
              <a:rPr lang="en-US" sz="1400" b="1" dirty="0">
                <a:solidFill>
                  <a:srgbClr val="FFFFFF"/>
                </a:solidFill>
              </a:rPr>
              <a:t>together meet the 10.5 MWth heating target — comfortably above the 10 MW minimum. </a:t>
            </a:r>
            <a:r>
              <a:rPr lang="en-US" sz="1400" dirty="0">
                <a:solidFill>
                  <a:srgbClr val="D6E4EC"/>
                </a:solidFill>
              </a:rPr>
              <a:t>The heat pump is the engineered bridge from a low-enthalpy aquifer to a usable district supply temperature.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8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C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4FC3C3"/>
                </a:solidFill>
              </a:rPr>
              <a:t>SYSTEM DESIGN · FINDING 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Centre, Storage &amp; Renewable Integration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16395E"/>
          </a:solidFill>
          <a:ln w="12700">
            <a:solidFill>
              <a:srgbClr val="D94F2A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" y="1911096"/>
            <a:ext cx="548640" cy="548640"/>
          </a:xfrm>
          <a:prstGeom prst="ellipse">
            <a:avLst/>
          </a:prstGeom>
          <a:solidFill>
            <a:srgbClr val="D94F2A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2" y="2042770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1874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Titanium Heat Exchanger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59536" y="24414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7D7E2"/>
                </a:solidFill>
              </a:rPr>
              <a:t>Separates corrosive brine from the clean district loop.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43400" y="169164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16395E"/>
          </a:solidFill>
          <a:ln w="12700">
            <a:solidFill>
              <a:srgbClr val="1C8C8C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44568" y="1911096"/>
            <a:ext cx="548640" cy="548640"/>
          </a:xfrm>
          <a:prstGeom prst="ellipse">
            <a:avLst/>
          </a:prstGeom>
          <a:solidFill>
            <a:srgbClr val="1C8C8C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242" y="204277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84648" y="1874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Heat Pump (COP ≈ 2.25)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562856" y="24414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7D7E2"/>
                </a:solidFill>
              </a:rPr>
              <a:t>Upgrades 68→70 °C; +0.45 MWth on 0.2 MW electric.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046720" y="169164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16395E"/>
          </a:solidFill>
          <a:ln w="12700">
            <a:solidFill>
              <a:srgbClr val="E8B84B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247888" y="1911096"/>
            <a:ext cx="548640" cy="548640"/>
          </a:xfrm>
          <a:prstGeom prst="ellipse">
            <a:avLst/>
          </a:prstGeom>
          <a:solidFill>
            <a:srgbClr val="E8B84B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9562" y="204277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87968" y="1874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ATES Seasonal Wells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8266176" y="24414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C7D7E2"/>
                </a:solidFill>
              </a:rPr>
              <a:t>Hydraulically balanced seasonal heat/cold storage.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40080" y="320040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16395E"/>
          </a:solidFill>
          <a:ln w="12700">
            <a:solidFill>
              <a:srgbClr val="F2A65A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841248" y="3419856"/>
            <a:ext cx="548640" cy="548640"/>
          </a:xfrm>
          <a:prstGeom prst="ellipse">
            <a:avLst/>
          </a:prstGeom>
          <a:solidFill>
            <a:srgbClr val="F2A65A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922" y="3551530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81328" y="33832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Buffer Tanks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59536" y="39502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7D7E2"/>
                </a:solidFill>
              </a:rPr>
              <a:t>Hot 575 m³/20 MWh + cold 1,225 m³/10 MWh shave 4-hr peaks.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343400" y="320040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16395E"/>
          </a:solidFill>
          <a:ln w="12700">
            <a:solidFill>
              <a:srgbClr val="2C7A4B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4544568" y="3419856"/>
            <a:ext cx="548640" cy="548640"/>
          </a:xfrm>
          <a:prstGeom prst="ellipse">
            <a:avLst/>
          </a:prstGeom>
          <a:solidFill>
            <a:srgbClr val="2C7A4B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242" y="3551530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184648" y="33832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Mechanical Chiller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4562856" y="39502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7D7E2"/>
                </a:solidFill>
              </a:rPr>
              <a:t>5 MWth cooling at 7/15 °C; rejects to ATES cold well.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8046720" y="320040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16395E"/>
          </a:solidFill>
          <a:ln w="12700">
            <a:solidFill>
              <a:srgbClr val="E8B84B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8247888" y="3419856"/>
            <a:ext cx="548640" cy="548640"/>
          </a:xfrm>
          <a:prstGeom prst="ellipse">
            <a:avLst/>
          </a:prstGeom>
          <a:solidFill>
            <a:srgbClr val="E8B84B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9562" y="3551530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887968" y="33832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1.5 MW Solar PV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8266176" y="39502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7D7E2"/>
                </a:solidFill>
              </a:rPr>
              <a:t>Offsets a significant fraction of auxiliary electricity demand.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AFC3D2"/>
                </a:solidFill>
              </a:rPr>
              <a:t>Two-tier storage (seasonal ATES + daily buffer tanks) lets the wells run near-constant at their efficient point, decoupling continuous supply from seasonal demand.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9</a:t>
            </a:r>
            <a:endParaRPr lang="en-US" sz="1000" dirty="0"/>
          </a:p>
        </p:txBody>
      </p:sp>
      <p:sp>
        <p:nvSpPr>
          <p:cNvPr id="37" name="Text 2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8C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DESIGN · FINDING 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Seasonal Demand &amp; Annual Dispatch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544068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assets/district_demand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552140"/>
            <a:ext cx="5212080" cy="256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27024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C7080"/>
                </a:solidFill>
              </a:rPr>
              <a:t>Monthly heating &amp; cooling demand vs capacity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assets/integrated_system_dispa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29" y="1508760"/>
            <a:ext cx="3733678" cy="2651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427024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C7080"/>
                </a:solidFill>
              </a:rPr>
              <a:t>Integrated monthly dispatch — geothermal + storage + minimal backup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640080" y="46177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40080" y="4617720"/>
            <a:ext cx="82296" cy="1417320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04672" y="4709160"/>
            <a:ext cx="3264408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&gt;95 %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822960" y="5411419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C70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 met by geothermal + storage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343400" y="46177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343400" y="4617720"/>
            <a:ext cx="82296" cy="1417320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4507992" y="4709160"/>
            <a:ext cx="3264408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D94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10.5 MWth</a:t>
            </a: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4526280" y="5411419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C70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 heating, every winter month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046720" y="46177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8046720" y="4617720"/>
            <a:ext cx="82296" cy="141732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8211312" y="4709160"/>
            <a:ext cx="3264408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C7A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5.0 MWth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8229600" y="5411419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C70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 cooling through summer peak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10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8B8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ECONOMICS · FINDING 08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Capital Cost &amp; Levelised Cost of Energy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04088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assets/capex_opex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43346"/>
            <a:ext cx="6766560" cy="291410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98348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C7080"/>
                </a:solidFill>
              </a:rPr>
              <a:t>CAPEX composition (left) and annual operating costs (right)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40080" y="5303520"/>
            <a:ext cx="7040880" cy="960120"/>
          </a:xfrm>
          <a:prstGeom prst="roundRect">
            <a:avLst>
              <a:gd name="adj" fmla="val 7619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39496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E8B84B"/>
                </a:solidFill>
              </a:rPr>
              <a:t>Depth-based drilling:  </a:t>
            </a:r>
            <a:r>
              <a:rPr lang="en-US" sz="1100" dirty="0">
                <a:solidFill>
                  <a:srgbClr val="1B2A38"/>
                </a:solidFill>
              </a:rPr>
              <a:t>each of 5 wells costed by its own depth — BLT-01 (1,700 m), GLA-01 (1,642 m), REINJ-01 (1,211 m), 2 ATES wells (150 m). Total drilling €25.5 M.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909560" y="1417320"/>
            <a:ext cx="36576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7909560" y="1417320"/>
            <a:ext cx="82296" cy="1508760"/>
          </a:xfrm>
          <a:prstGeom prst="rect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074152" y="1508760"/>
            <a:ext cx="34015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€41.0 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092440" y="226222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C70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capital expenditure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909560" y="3063240"/>
            <a:ext cx="36576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7909560" y="3063240"/>
            <a:ext cx="82296" cy="1508760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074152" y="3154680"/>
            <a:ext cx="34015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€74.4/MWh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092440" y="390814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C70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Base-case LCoE (EU range)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909560" y="4709160"/>
            <a:ext cx="36576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7909560" y="4709160"/>
            <a:ext cx="82296" cy="1508760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074152" y="4800600"/>
            <a:ext cx="34015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D94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€1.23 M/yr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092440" y="555406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C70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 operating cost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11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8B8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ECONOMICS · FINDING 09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Uncertainty: 10,000-Run Monte Carlo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544068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assets/monte_carlo_lc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995143"/>
            <a:ext cx="5212080" cy="20447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636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C7080"/>
                </a:solidFill>
              </a:rPr>
              <a:t>Probabilistic LCoE distribution (10,000 simulations)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217920" y="1417320"/>
            <a:ext cx="53492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assets/tornado_sensitiv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1540980"/>
            <a:ext cx="5120640" cy="2953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463600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C7080"/>
                </a:solidFill>
              </a:rPr>
              <a:t>Tornado sensitivity — ±20 % on each parameter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640080" y="502920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C8C8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777240" y="513892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8C8C"/>
                </a:solidFill>
              </a:rPr>
              <a:t>P10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7724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€67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786384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/MWh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2468880" y="502920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6395E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2606040" y="513892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95E"/>
                </a:solidFill>
              </a:rPr>
              <a:t>P50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260604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€80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2615184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/MWh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297680" y="502920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D94F2A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4434840" y="513892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4F2A"/>
                </a:solidFill>
              </a:rPr>
              <a:t>P90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443484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€95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4443984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/MWh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6217920" y="5029200"/>
            <a:ext cx="5349240" cy="1143000"/>
          </a:xfrm>
          <a:prstGeom prst="roundRect">
            <a:avLst>
              <a:gd name="adj" fmla="val 6400"/>
            </a:avLst>
          </a:prstGeom>
          <a:solidFill>
            <a:srgbClr val="0E2A47"/>
          </a:solidFill>
          <a:ln/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446520" y="51389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B84B"/>
                </a:solidFill>
              </a:rPr>
              <a:t>Why this matters:  </a:t>
            </a:r>
            <a:r>
              <a:rPr lang="en-US" sz="1200" dirty="0">
                <a:solidFill>
                  <a:srgbClr val="D6E4EC"/>
                </a:solidFill>
              </a:rPr>
              <a:t>a single LCoE hides risk. Even at P90 the system stays within the EU district-heating range — robust, not just optimistic.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12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639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639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 APPRAISAL · FINDING 10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Key Assumptions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B2A38"/>
                </a:solidFill>
              </a:rPr>
              <a:t>We state our boundaries plainly — a credible design is one whose limits are understood.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48640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68680" y="2103120"/>
            <a:ext cx="566928" cy="566928"/>
          </a:xfrm>
          <a:prstGeom prst="ellipse">
            <a:avLst/>
          </a:prstGeom>
          <a:solidFill>
            <a:srgbClr val="D94F2A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743" y="2239183"/>
            <a:ext cx="294803" cy="294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215798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4F2A"/>
                </a:solidFill>
              </a:rPr>
              <a:t>Known Limitations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274320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E2A47"/>
                </a:solidFill>
              </a:rPr>
              <a:t>•  No coupled reservoir simulation — </a:t>
            </a:r>
            <a:r>
              <a:rPr lang="en-US" sz="1150" dirty="0">
                <a:solidFill>
                  <a:srgbClr val="5C7080"/>
                </a:solidFill>
              </a:rPr>
              <a:t>steady-state flow assumed; thermal drawdown over time not modelled.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14400" y="3419856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E2A47"/>
                </a:solidFill>
              </a:rPr>
              <a:t>•  GLA-01 is a hypothetical target — </a:t>
            </a:r>
            <a:r>
              <a:rPr lang="en-US" sz="1150" dirty="0">
                <a:solidFill>
                  <a:srgbClr val="5C7080"/>
                </a:solidFill>
              </a:rPr>
              <a:t>not an existing well — new drilling carries delivery uncertainty.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14400" y="4096512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E2A47"/>
                </a:solidFill>
              </a:rPr>
              <a:t>•  Simplified demand profiles — </a:t>
            </a:r>
            <a:r>
              <a:rPr lang="en-US" sz="1150" dirty="0">
                <a:solidFill>
                  <a:srgbClr val="5C7080"/>
                </a:solidFill>
              </a:rPr>
              <a:t>no hourly district consumption data within the challenge framework.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14400" y="4773168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E2A47"/>
                </a:solidFill>
              </a:rPr>
              <a:t>•  ThermoGIS P50 used deterministically — </a:t>
            </a:r>
            <a:r>
              <a:rPr lang="en-US" sz="1150" dirty="0">
                <a:solidFill>
                  <a:srgbClr val="5C7080"/>
                </a:solidFill>
              </a:rPr>
              <a:t>full probabilistic reservoir coupling not implemented.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14400" y="5449824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E2A47"/>
                </a:solidFill>
              </a:rPr>
              <a:t>•  ATES integration is conceptual — </a:t>
            </a:r>
            <a:r>
              <a:rPr lang="en-US" sz="1150" dirty="0">
                <a:solidFill>
                  <a:srgbClr val="5C7080"/>
                </a:solidFill>
              </a:rPr>
              <a:t>no groundwater-flow simulation performed.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63640" y="1874520"/>
            <a:ext cx="5303520" cy="4389120"/>
          </a:xfrm>
          <a:prstGeom prst="roundRect">
            <a:avLst>
              <a:gd name="adj" fmla="val 1667"/>
            </a:avLst>
          </a:prstGeom>
          <a:solidFill>
            <a:srgbClr val="0E2A47"/>
          </a:solidFill>
          <a:ln/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92240" y="2103120"/>
            <a:ext cx="566928" cy="566928"/>
          </a:xfrm>
          <a:prstGeom prst="ellipse">
            <a:avLst/>
          </a:prstGeom>
          <a:solidFill>
            <a:srgbClr val="4FC3C3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303" y="2239183"/>
            <a:ext cx="294803" cy="29480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22376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C3"/>
                </a:solidFill>
              </a:rPr>
              <a:t>Key Assumptions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37960" y="2788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</a:rPr>
              <a:t>Brine properties:  </a:t>
            </a:r>
            <a:r>
              <a:rPr lang="en-US" sz="1150" dirty="0">
                <a:solidFill>
                  <a:srgbClr val="C7D7E2"/>
                </a:solidFill>
              </a:rPr>
              <a:t>ρ = 1040 kg/m³ · Cp = 4.0 kJ/kg·K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6537960" y="33558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</a:rPr>
              <a:t>Reinjection temperature:  </a:t>
            </a:r>
            <a:r>
              <a:rPr lang="en-US" sz="1150" dirty="0">
                <a:solidFill>
                  <a:srgbClr val="C7D7E2"/>
                </a:solidFill>
              </a:rPr>
              <a:t>35–40 °C after heat extraction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6537960" y="392277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</a:rPr>
              <a:t>District regime:  </a:t>
            </a:r>
            <a:r>
              <a:rPr lang="en-US" sz="1150" dirty="0">
                <a:solidFill>
                  <a:srgbClr val="C7D7E2"/>
                </a:solidFill>
              </a:rPr>
              <a:t>70 °C supply / 40 °C return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537960" y="44897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</a:rPr>
              <a:t>Heat pump COP:  </a:t>
            </a:r>
            <a:r>
              <a:rPr lang="en-US" sz="1150" dirty="0">
                <a:solidFill>
                  <a:srgbClr val="C7D7E2"/>
                </a:solidFill>
              </a:rPr>
              <a:t>2.25 (68→70 °C upgrade)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537960" y="505663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</a:rPr>
              <a:t>Economic lifetime:  </a:t>
            </a:r>
            <a:r>
              <a:rPr lang="en-US" sz="1150" dirty="0">
                <a:solidFill>
                  <a:srgbClr val="C7D7E2"/>
                </a:solidFill>
              </a:rPr>
              <a:t>15 years, 6 % discount rate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537960" y="56235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</a:rPr>
              <a:t>Demand basis:  </a:t>
            </a:r>
            <a:r>
              <a:rPr lang="en-US" sz="1150" dirty="0">
                <a:solidFill>
                  <a:srgbClr val="C7D7E2"/>
                </a:solidFill>
              </a:rPr>
              <a:t>10 MWth heat / 5 MWth cool (minimums)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13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8B84B"/>
                </a:solidFill>
              </a:rPr>
              <a:t>DIFFERENTIATION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548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Submission Stands Out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27080" cy="987552"/>
          </a:xfrm>
          <a:prstGeom prst="roundRect">
            <a:avLst>
              <a:gd name="adj" fmla="val 7407"/>
            </a:avLst>
          </a:prstGeom>
          <a:solidFill>
            <a:srgbClr val="16395E"/>
          </a:solidFill>
          <a:ln w="9525">
            <a:solidFill>
              <a:srgbClr val="E8B84B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68680" y="2002536"/>
            <a:ext cx="566928" cy="566928"/>
          </a:xfrm>
          <a:prstGeom prst="ellipse">
            <a:avLst/>
          </a:prstGeom>
          <a:solidFill>
            <a:srgbClr val="D94F2A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743" y="2138599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1929384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</a:rPr>
              <a:t>Data-engineering rigour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120640" y="1901952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C7D7E2"/>
                </a:solidFill>
              </a:rPr>
              <a:t>TVD depth correction, hidden-null detection and a caught label error — quiet mistakes most teams carry forward.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898648"/>
            <a:ext cx="10927080" cy="987552"/>
          </a:xfrm>
          <a:prstGeom prst="roundRect">
            <a:avLst>
              <a:gd name="adj" fmla="val 7407"/>
            </a:avLst>
          </a:prstGeom>
          <a:solidFill>
            <a:srgbClr val="16395E"/>
          </a:solidFill>
          <a:ln w="9525">
            <a:solidFill>
              <a:srgbClr val="E8B84B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8680" y="3118104"/>
            <a:ext cx="566928" cy="566928"/>
          </a:xfrm>
          <a:prstGeom prst="ellipse">
            <a:avLst/>
          </a:prstGeom>
          <a:solidFill>
            <a:srgbClr val="1C8C8C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743" y="3254167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27632" y="304495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</a:rPr>
              <a:t>True system integration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120640" y="3017520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C7D7E2"/>
                </a:solidFill>
              </a:rPr>
              <a:t>Geothermal + reinjection + heat pump + chiller + ATES + buffer tanks + solar — a complete energy system, not a single well.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014216"/>
            <a:ext cx="10927080" cy="987552"/>
          </a:xfrm>
          <a:prstGeom prst="roundRect">
            <a:avLst>
              <a:gd name="adj" fmla="val 7407"/>
            </a:avLst>
          </a:prstGeom>
          <a:solidFill>
            <a:srgbClr val="16395E"/>
          </a:solidFill>
          <a:ln w="9525">
            <a:solidFill>
              <a:srgbClr val="E8B84B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68680" y="4233672"/>
            <a:ext cx="566928" cy="566928"/>
          </a:xfrm>
          <a:prstGeom prst="ellipse">
            <a:avLst/>
          </a:prstGeom>
          <a:solidFill>
            <a:srgbClr val="D94F2A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743" y="4369735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27632" y="41605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</a:rPr>
              <a:t>Uncertainty-aware economics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5120640" y="4133088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C7D7E2"/>
                </a:solidFill>
              </a:rPr>
              <a:t>A full Monte Carlo risk profile (P10/P50/P90), not a single hopeful LCoE — the language investors trust.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40080" y="5129784"/>
            <a:ext cx="10927080" cy="987552"/>
          </a:xfrm>
          <a:prstGeom prst="roundRect">
            <a:avLst>
              <a:gd name="adj" fmla="val 7407"/>
            </a:avLst>
          </a:prstGeom>
          <a:solidFill>
            <a:srgbClr val="16395E"/>
          </a:solidFill>
          <a:ln w="9525">
            <a:solidFill>
              <a:srgbClr val="E8B84B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868680" y="5349240"/>
            <a:ext cx="566928" cy="566928"/>
          </a:xfrm>
          <a:prstGeom prst="ellipse">
            <a:avLst/>
          </a:prstGeom>
          <a:solidFill>
            <a:srgbClr val="1C8C8C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743" y="5485303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27632" y="5276088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</a:rPr>
              <a:t>Honest, defensible engineering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5120640" y="5248656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C7D7E2"/>
                </a:solidFill>
              </a:rPr>
              <a:t>We state plainly that geothermal + heat pump together meet 10.5 MWth, framing the margin as deliberate efficient design.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080"/>
                </a:solidFill>
              </a:rPr>
              <a:t>14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080"/>
                </a:solidFill>
              </a:rPr>
              <a:t>GeoLogic Analytics  ·  SPE Africa Geothermal Datathon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943600"/>
            <a:ext cx="12191695" cy="411480"/>
          </a:xfrm>
          <a:prstGeom prst="rect">
            <a:avLst/>
          </a:prstGeom>
          <a:solidFill>
            <a:srgbClr val="D94F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640080"/>
            <a:ext cx="777240" cy="777240"/>
          </a:xfrm>
          <a:prstGeom prst="ellipse">
            <a:avLst/>
          </a:prstGeom>
          <a:solidFill>
            <a:srgbClr val="E8B84B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8" y="826618"/>
            <a:ext cx="404165" cy="404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6583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 &amp; Recommendations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58368" y="1554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i="1" dirty="0">
                <a:solidFill>
                  <a:srgbClr val="C7D7E2"/>
                </a:solidFill>
              </a:rPr>
              <a:t>Utrecht can be supplied with firm, low-carbon district heating and cooling from a low-enthalpy aquifer — delivered by rigorous data engineering, integrated thermal design, and economics that survive scrutiny under uncertainty.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514600"/>
            <a:ext cx="7680960" cy="804672"/>
          </a:xfrm>
          <a:prstGeom prst="roundRect">
            <a:avLst>
              <a:gd name="adj" fmla="val 9091"/>
            </a:avLst>
          </a:prstGeom>
          <a:solidFill>
            <a:srgbClr val="16395E"/>
          </a:solidFill>
          <a:ln w="9525">
            <a:solidFill>
              <a:srgbClr val="4FC3C3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868680" y="2660904"/>
            <a:ext cx="512064" cy="512064"/>
          </a:xfrm>
          <a:prstGeom prst="ellipse">
            <a:avLst/>
          </a:prstGeom>
          <a:solidFill>
            <a:srgbClr val="1C8C8C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575" y="2783799"/>
            <a:ext cx="266273" cy="26627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60604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Drill an appraisal well at GLA-01  </a:t>
            </a:r>
            <a:r>
              <a:rPr lang="en-US" sz="1100" dirty="0">
                <a:solidFill>
                  <a:srgbClr val="C7D7E2"/>
                </a:solidFill>
              </a:rPr>
              <a:t>— Convert the hypothetical corridor to a proven producer before final investment — the single biggest uncertainty.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58368" y="3429000"/>
            <a:ext cx="7680960" cy="804672"/>
          </a:xfrm>
          <a:prstGeom prst="roundRect">
            <a:avLst>
              <a:gd name="adj" fmla="val 9091"/>
            </a:avLst>
          </a:prstGeom>
          <a:solidFill>
            <a:srgbClr val="16395E"/>
          </a:solidFill>
          <a:ln w="9525">
            <a:solidFill>
              <a:srgbClr val="4FC3C3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868680" y="3575304"/>
            <a:ext cx="512064" cy="512064"/>
          </a:xfrm>
          <a:prstGeom prst="ellipse">
            <a:avLst/>
          </a:prstGeom>
          <a:solidFill>
            <a:srgbClr val="D94F2A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575" y="3698199"/>
            <a:ext cx="266273" cy="26627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352044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Acquire hourly demand data  </a:t>
            </a:r>
            <a:r>
              <a:rPr lang="en-US" sz="1100" dirty="0">
                <a:solidFill>
                  <a:srgbClr val="C7D7E2"/>
                </a:solidFill>
              </a:rPr>
              <a:t>— Replace the simplified seasonal profile with metered consumption to refine storage sizing.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58368" y="4343400"/>
            <a:ext cx="7680960" cy="804672"/>
          </a:xfrm>
          <a:prstGeom prst="roundRect">
            <a:avLst>
              <a:gd name="adj" fmla="val 9091"/>
            </a:avLst>
          </a:prstGeom>
          <a:solidFill>
            <a:srgbClr val="16395E"/>
          </a:solidFill>
          <a:ln w="9525">
            <a:solidFill>
              <a:srgbClr val="4FC3C3"/>
            </a:solidFill>
            <a:prstDash val="solid"/>
          </a:ln>
          <a:effectLst>
            <a:outerShdw blurRad="114300" dist="38100" dir="8100000" algn="bl" rotWithShape="0">
              <a:srgbClr val="0A1722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868680" y="4489704"/>
            <a:ext cx="512064" cy="512064"/>
          </a:xfrm>
          <a:prstGeom prst="ellipse">
            <a:avLst/>
          </a:prstGeom>
          <a:solidFill>
            <a:srgbClr val="1C8C8C"/>
          </a:solidFill>
          <a:ln/>
          <a:effectLst>
            <a:outerShdw blurRad="88900" dist="25400" dir="8100000" algn="bl" rotWithShape="0">
              <a:srgbClr val="1B2A38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575" y="4612599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443484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Run a coupled reservoir, groundwater and ATES model  </a:t>
            </a:r>
            <a:r>
              <a:rPr lang="en-US" sz="1100" dirty="0">
                <a:solidFill>
                  <a:srgbClr val="C7D7E2"/>
                </a:solidFill>
              </a:rPr>
              <a:t>— Quantify thermal drawdown and groundwater interaction over the 30-year life.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595360" y="2514600"/>
            <a:ext cx="2971800" cy="804672"/>
          </a:xfrm>
          <a:prstGeom prst="roundRect">
            <a:avLst>
              <a:gd name="adj" fmla="val 9091"/>
            </a:avLst>
          </a:prstGeom>
          <a:solidFill>
            <a:srgbClr val="16395E"/>
          </a:solidFill>
          <a:ln w="15875">
            <a:solidFill>
              <a:srgbClr val="D94F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8759952" y="2606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4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10.5 / 5.0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8778240" y="3017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FC3D2"/>
                </a:solidFill>
              </a:rPr>
              <a:t>MWth heat / cool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595360" y="3429000"/>
            <a:ext cx="2971800" cy="804672"/>
          </a:xfrm>
          <a:prstGeom prst="roundRect">
            <a:avLst>
              <a:gd name="adj" fmla="val 9091"/>
            </a:avLst>
          </a:prstGeom>
          <a:solidFill>
            <a:srgbClr val="16395E"/>
          </a:solidFill>
          <a:ln w="15875">
            <a:solidFill>
              <a:srgbClr val="E8B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8759952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€74/MWh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8778240" y="39319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FC3D2"/>
                </a:solidFill>
              </a:rPr>
              <a:t>Base-case LCoE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595360" y="4343400"/>
            <a:ext cx="2971800" cy="804672"/>
          </a:xfrm>
          <a:prstGeom prst="roundRect">
            <a:avLst>
              <a:gd name="adj" fmla="val 9091"/>
            </a:avLst>
          </a:prstGeom>
          <a:solidFill>
            <a:srgbClr val="16395E"/>
          </a:solidFill>
          <a:ln w="15875">
            <a:solidFill>
              <a:srgbClr val="1C8C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/>
          <p:nvPr/>
        </p:nvSpPr>
        <p:spPr>
          <a:xfrm>
            <a:off x="8759952" y="4434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&gt;95 %</a:t>
            </a:r>
            <a:endParaRPr lang="en-US" sz="1900" dirty="0"/>
          </a:p>
        </p:txBody>
      </p:sp>
      <p:sp>
        <p:nvSpPr>
          <p:cNvPr id="28" name="Text 22"/>
          <p:cNvSpPr/>
          <p:nvPr/>
        </p:nvSpPr>
        <p:spPr>
          <a:xfrm>
            <a:off x="8778240" y="4846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FC3D2"/>
                </a:solidFill>
              </a:rPr>
              <a:t>Geothermal share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640080" y="641908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Team GeoLogic Analytics  ·  SPE Africa Geothermal Datathon 2026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1658</Words>
  <Application>Microsoft Office PowerPoint</Application>
  <PresentationFormat>Widescreen</PresentationFormat>
  <Paragraphs>273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Consolas</vt:lpstr>
      <vt:lpstr>Georgia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Integrated Geothermal District Energy System — Utrecht</dc:title>
  <dc:subject>PptxGenJS Presentation</dc:subject>
  <dc:creator>Team GeoLogic Analytics</dc:creator>
  <cp:lastModifiedBy>Mercy Uadia</cp:lastModifiedBy>
  <cp:revision>4</cp:revision>
  <dcterms:created xsi:type="dcterms:W3CDTF">2026-06-06T11:39:28Z</dcterms:created>
  <dcterms:modified xsi:type="dcterms:W3CDTF">2026-06-06T23:16:48Z</dcterms:modified>
</cp:coreProperties>
</file>
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C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 AFRICA GEOTHERMAL DATATHON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Geothermal District Heating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Cooling System for Utrecht, Netherlands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2194560" cy="841248"/>
          </a:xfrm>
          <a:prstGeom prst="roundRect">
            <a:avLst>
              <a:gd name="adj" fmla="val 10870"/>
            </a:avLst>
          </a:prstGeom>
          <a:solidFill>
            <a:srgbClr val="16395E"/>
          </a:solidFill>
          <a:ln w="15875">
            <a:solidFill>
              <a:srgbClr val="D94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 MWth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Heating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514600"/>
            <a:ext cx="2194560" cy="841248"/>
          </a:xfrm>
          <a:prstGeom prst="roundRect">
            <a:avLst>
              <a:gd name="adj" fmla="val 10870"/>
            </a:avLst>
          </a:prstGeom>
          <a:solidFill>
            <a:srgbClr val="16395E"/>
          </a:solidFill>
          <a:ln w="15875">
            <a:solidFill>
              <a:srgbClr val="1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 MWth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55848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Cooling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514600"/>
            <a:ext cx="2194560" cy="841248"/>
          </a:xfrm>
          <a:prstGeom prst="roundRect">
            <a:avLst>
              <a:gd name="adj" fmla="val 10870"/>
            </a:avLst>
          </a:prstGeom>
          <a:solidFill>
            <a:srgbClr val="16395E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€74/MWh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79008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LCoE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10607040" cy="2377440"/>
          </a:xfrm>
          <a:prstGeom prst="roundRect">
            <a:avLst>
              <a:gd name="adj" fmla="val 3077"/>
            </a:avLst>
          </a:prstGeom>
          <a:solidFill>
            <a:srgbClr val="16395E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767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84B"/>
                </a:solidFill>
              </a:rPr>
              <a:t>TEAM GEOLOGIC ANALYTICS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Uadia Moses Imoukhedeh   </a:t>
            </a:r>
            <a:pPr indent="0" marL="0">
              <a:buNone/>
            </a:pPr>
            <a:r>
              <a:rPr lang="en-US" sz="1100" dirty="0">
                <a:solidFill>
                  <a:srgbClr val="4FC3C3"/>
                </a:solidFill>
              </a:rPr>
              <a:t>SPE 5174626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Ogundimu Samuel Oluwaseun   </a:t>
            </a:r>
            <a:pPr indent="0" marL="0">
              <a:buNone/>
            </a:pPr>
            <a:r>
              <a:rPr lang="en-US" sz="1100" dirty="0">
                <a:solidFill>
                  <a:srgbClr val="4FC3C3"/>
                </a:solidFill>
              </a:rPr>
              <a:t>SPE 5408045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Akanmu Oluwaseun Emmanuel   </a:t>
            </a:r>
            <a:pPr indent="0" marL="0">
              <a:buNone/>
            </a:pPr>
            <a:r>
              <a:rPr lang="en-US" sz="1100" dirty="0">
                <a:solidFill>
                  <a:srgbClr val="4FC3C3"/>
                </a:solidFill>
              </a:rPr>
              <a:t>SPE 5436014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Adejor Friday Emmanuel   </a:t>
            </a:r>
            <a:pPr indent="0" marL="0">
              <a:buNone/>
            </a:pPr>
            <a:r>
              <a:rPr lang="en-US" sz="1100" dirty="0">
                <a:solidFill>
                  <a:srgbClr val="4FC3C3"/>
                </a:solidFill>
              </a:rPr>
              <a:t>SPE 5510461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5340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Favour Ifeanyichukwu Ogboi   </a:t>
            </a:r>
            <a:pPr indent="0" marL="0">
              <a:buNone/>
            </a:pPr>
            <a:r>
              <a:rPr lang="en-US" sz="1100" dirty="0">
                <a:solidFill>
                  <a:srgbClr val="4FC3C3"/>
                </a:solidFill>
              </a:rPr>
              <a:t>SPE 5898562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382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Team_GeoLogicAnalytics_PPT_V1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F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&amp; Our Central Insight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B2A38"/>
                </a:solidFill>
              </a:rPr>
              <a:t>The brief demands a coherent system — not a single well — delivering firm heating and cooling, sustainably and economically, from a medium-temperature aquifer.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459736"/>
            <a:ext cx="566928" cy="566928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2595799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23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</a:rPr>
              <a:t>10 MWth Heating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5448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7080"/>
                </a:solidFill>
              </a:rPr>
              <a:t>From a low-enthalpy reservoir (70–77 °C).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22402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18888" y="2459736"/>
            <a:ext cx="566928" cy="566928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951" y="2595799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423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</a:rPr>
              <a:t>5 MWth Cooling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3212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7080"/>
                </a:solidFill>
              </a:rPr>
              <a:t>Year-round, balanced seasonally.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3877056"/>
            <a:ext cx="566928" cy="566928"/>
          </a:xfrm>
          <a:prstGeom prst="ellipse">
            <a:avLst/>
          </a:prstGeom>
          <a:solidFill>
            <a:srgbClr val="2C7A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1" y="401311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840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</a:rPr>
              <a:t>Low-Carbon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5448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7080"/>
                </a:solidFill>
              </a:rPr>
              <a:t>Minimise fossil &amp; grid electricity.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17720" y="365760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18888" y="3877056"/>
            <a:ext cx="566928" cy="566928"/>
          </a:xfrm>
          <a:prstGeom prst="ellipse">
            <a:avLst/>
          </a:prstGeom>
          <a:solidFill>
            <a:srgbClr val="16395E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51" y="4013119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840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</a:rPr>
              <a:t>Flexibility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53212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7080"/>
                </a:solidFill>
              </a:rPr>
              <a:t>Bridge constant supply vs seasonal demand.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549640" y="1371600"/>
            <a:ext cx="3017520" cy="4892040"/>
          </a:xfrm>
          <a:prstGeom prst="roundRect">
            <a:avLst>
              <a:gd name="adj" fmla="val 303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796528" y="1600200"/>
            <a:ext cx="731520" cy="73152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3" y="1775765"/>
            <a:ext cx="380390" cy="38039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96528" y="24505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B84B"/>
                </a:solidFill>
              </a:rPr>
              <a:t>OUR CENTRAL INSIGHT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796528" y="28346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Transmissivity beats temperature.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4EC"/>
                </a:solidFill>
              </a:rPr>
              <a:t>For a low-enthalpy resource, the fluid volume the reservoir delivers matters more than how hot it is. A hot but tight well produces no usable power.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796528" y="5486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</a:rPr>
              <a:t>PKP-01:  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</a:rPr>
              <a:t>88 °C but 0.1 Dm → not viable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84B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Logs to a Bankable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16395E"/>
          </a:solidFill>
          <a:ln w="15875">
            <a:solidFill>
              <a:srgbClr val="D94F2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1056" y="2212848"/>
            <a:ext cx="658368" cy="658368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9064" y="23708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3375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Engineering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8862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7E2"/>
                </a:solidFill>
              </a:rPr>
              <a:t>Ingest &amp; QC four well logs; validate depths; engineer petrophysical features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82112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29000" y="19202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16395E"/>
          </a:solidFill>
          <a:ln w="15875">
            <a:solidFill>
              <a:srgbClr val="F2A65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9976" y="2212848"/>
            <a:ext cx="658368" cy="658368"/>
          </a:xfrm>
          <a:prstGeom prst="ellipse">
            <a:avLst/>
          </a:prstGeom>
          <a:solidFill>
            <a:srgbClr val="F2A65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984" y="2370856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3592" y="33375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Resource Screening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30168" y="38862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7E2"/>
                </a:solidFill>
              </a:rPr>
              <a:t>Rank candidates on transmissivity; scout ThermoGIS corridors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971032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217920" y="19202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16395E"/>
          </a:solidFill>
          <a:ln w="15875">
            <a:solidFill>
              <a:srgbClr val="1C8C8C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68896" y="2212848"/>
            <a:ext cx="658368" cy="658368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04" y="2370856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82512" y="33375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Design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19088" y="38862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7E2"/>
                </a:solidFill>
              </a:rPr>
              <a:t>Size heat exchanger, heat pump, chiller, ATES &amp; storage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759952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006840" y="19202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16395E"/>
          </a:solidFill>
          <a:ln w="15875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957816" y="2212848"/>
            <a:ext cx="658368" cy="658368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824" y="2370856"/>
            <a:ext cx="342351" cy="3423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8972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71432" y="33375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Economics &amp; Risk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208008" y="38862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7E2"/>
                </a:solidFill>
              </a:rPr>
              <a:t>Depth-based CAPEX, LCoE &amp; 10,000-run Monte Carlo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C3D2"/>
                </a:solidFill>
              </a:rPr>
              <a:t>Engineering rigour and evaluation discipline come before architectural complexity — every parameter is traceable to data or the surface design report.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F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· FINDING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Engineering: Getting the Basics Right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missing_data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1508760"/>
            <a:ext cx="4125773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Missing-data audit — −999.25 null sentinel detected &amp; flagged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9" name="Image 1" descr="assets/md_vs_tvd_valid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4206240"/>
            <a:ext cx="4151376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MD vs TVD — depth correction for the deviated well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A47"/>
                </a:solidFill>
              </a:rPr>
              <a:t>Three quiet errors most teams will carry forward: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355080" y="2057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5080" y="2057400"/>
            <a:ext cx="82296" cy="123444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F2A"/>
                </a:solidFill>
              </a:rPr>
              <a:t>Caught a hidden null code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83680" y="2560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A38"/>
                </a:solidFill>
              </a:rPr>
              <a:t>The −999.25 sentinel was mapped to true missing values before any statistics were computed.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55080" y="3429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3429000"/>
            <a:ext cx="82296" cy="123444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</a:rPr>
              <a:t>Caught a labelling error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83680" y="3931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A38"/>
                </a:solidFill>
              </a:rPr>
              <a:t>A ThermoGIS sheet headed “PKP-01” carried BLT-01 coordinates — flagged and corrected before screening.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55080" y="4800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5080" y="4800600"/>
            <a:ext cx="82296" cy="123444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C8C"/>
                </a:solidFill>
              </a:rPr>
              <a:t>Caught the depth trap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5303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A38"/>
                </a:solidFill>
              </a:rPr>
              <a:t>Target depths in along-hole MD were converted to TVD via the well-path survey — or every temperature estimate would be wrong.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· FINDING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Transmissivity Drives Viability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transmissivit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72572"/>
            <a:ext cx="5120640" cy="3044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943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Transmissivity ranking across all targets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26480" y="141732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9" name="Image 1" descr="assets/temp_vs_transmiss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62" y="1508760"/>
            <a:ext cx="4570171" cy="3108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4709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Viability trade-space — bubble size ∝ thermal power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126480" y="50749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26480" y="5074920"/>
            <a:ext cx="82296" cy="118872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13" name="Text 9"/>
          <p:cNvSpPr/>
          <p:nvPr/>
        </p:nvSpPr>
        <p:spPr>
          <a:xfrm>
            <a:off x="6291072" y="5166360"/>
            <a:ext cx="239572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31.1 Dm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309360" y="5740603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REINJ-01 — best in class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915400" y="50749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15400" y="5074920"/>
            <a:ext cx="82296" cy="118872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17" name="Text 13"/>
          <p:cNvSpPr/>
          <p:nvPr/>
        </p:nvSpPr>
        <p:spPr>
          <a:xfrm>
            <a:off x="9079992" y="5166360"/>
            <a:ext cx="239572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PKP-01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9098280" y="5740603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 °C but 0.1 Dm → useless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· FINDING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Subsurface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132320" cy="4572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 °C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Flow m³/h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Trans. Dm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7132320" cy="603504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920240"/>
            <a:ext cx="82296" cy="603504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192024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F2A"/>
                </a:solidFill>
              </a:rPr>
              <a:t>BLT-01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1920240"/>
            <a:ext cx="237744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Validated Production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192024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77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40680" y="192024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105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</a:rPr>
              <a:t>9.3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523744"/>
            <a:ext cx="71323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523744"/>
            <a:ext cx="82296" cy="603504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52374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8C8C"/>
                </a:solidFill>
              </a:rPr>
              <a:t>GLA-01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2523744"/>
            <a:ext cx="237744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Optimised Corridor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25237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70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252374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140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25237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</a:rPr>
              <a:t>15.2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127248"/>
            <a:ext cx="7132320" cy="603504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127248"/>
            <a:ext cx="82296" cy="603504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12724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080"/>
                </a:solidFill>
              </a:rPr>
              <a:t>GLA-02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65960" y="3127248"/>
            <a:ext cx="237744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Backup / Contingency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312724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71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40680" y="3127248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132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312724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</a:rPr>
              <a:t>13.4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3730752"/>
            <a:ext cx="71323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3730752"/>
            <a:ext cx="82296" cy="603504"/>
          </a:xfrm>
          <a:prstGeom prst="rect">
            <a:avLst/>
          </a:prstGeom>
          <a:solidFill>
            <a:srgbClr val="16395E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373075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95E"/>
                </a:solidFill>
              </a:rPr>
              <a:t>REINJ-01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965960" y="3730752"/>
            <a:ext cx="237744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Reinjection Corridor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43400" y="373075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55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40680" y="3730752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47"/>
                </a:solidFill>
              </a:rPr>
              <a:t>192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73075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</a:rPr>
              <a:t>31.1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4526280"/>
            <a:ext cx="7132320" cy="1737360"/>
          </a:xfrm>
          <a:prstGeom prst="roundRect">
            <a:avLst>
              <a:gd name="adj" fmla="val 421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4709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4FC3C3"/>
                </a:solidFill>
              </a:rPr>
              <a:t>Production doublet: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4EC"/>
                </a:solidFill>
              </a:rPr>
              <a:t>BLT-01 + GLA-01 deliver 245 m³/h of blended 73 °C brine. GLA-02 is held in reserve. REINJ-01 — the highest-injectivity corridor at 31.1 Dm — safely accepts the cooled brine and maintains reservoir pressure.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955280" y="1463040"/>
            <a:ext cx="3611880" cy="48006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92440" y="15727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C8C"/>
                </a:solidFill>
              </a:rPr>
              <a:t>GLA-01 — ThermoGIS Evidence</a:t>
            </a:r>
            <a:endParaRPr lang="en-US" sz="1250" dirty="0"/>
          </a:p>
        </p:txBody>
      </p:sp>
      <p:pic>
        <p:nvPicPr>
          <p:cNvPr id="43" name="Image 0" descr="assets/gla01_thermogis_proper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499" y="1965960"/>
            <a:ext cx="2847442" cy="41148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 · FINDING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architecture_diagra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36192"/>
            <a:ext cx="9211666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937760"/>
            <a:ext cx="365760" cy="109728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Hot brine / heating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4937760"/>
            <a:ext cx="365760" cy="109728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Cooling / aquifer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4937760"/>
            <a:ext cx="365760" cy="109728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</a:rPr>
              <a:t>Electricity (solar)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556138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44752" y="54041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Geothermal Doublet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04672" y="5879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C7080"/>
                </a:solidFill>
              </a:rPr>
              <a:t>BLT-01 + GLA-01 → 245 m³/h of 73 °C brine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19856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02736" y="5440680"/>
            <a:ext cx="502920" cy="502920"/>
          </a:xfrm>
          <a:prstGeom prst="ellipse">
            <a:avLst/>
          </a:prstGeom>
          <a:solidFill>
            <a:srgbClr val="16395E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437" y="556138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24528" y="54041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Energy Centre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584448" y="5879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C7080"/>
                </a:solidFill>
              </a:rPr>
              <a:t>Heat exchanger + heat-pump upgrade to 70 °C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99632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82512" y="5440680"/>
            <a:ext cx="502920" cy="502920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3" y="5561381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04304" y="54041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Thermal Storage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364224" y="5879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C7080"/>
                </a:solidFill>
              </a:rPr>
              <a:t>ATES seasonal wells + hot &amp; cold buffer tanks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979408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62288" y="5440680"/>
            <a:ext cx="502920" cy="50292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989" y="5561381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84080" y="54041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Solar Powered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144000" y="5879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C7080"/>
                </a:solidFill>
              </a:rPr>
              <a:t>1.5 MW PV drives the heat pump &amp; chiller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F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 · FINDING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Thermodynamics of the Production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4F2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F2A"/>
                </a:solidFill>
              </a:rPr>
              <a:t>BLT-01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77 °C · 105 m³/h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30.33 kg/s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A65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96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</a:rPr>
              <a:t>GLA-01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70 °C · 140 m³/h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40.44 kg/s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080"/>
                </a:solidFill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C3C3"/>
                </a:solidFill>
              </a:rPr>
              <a:t>BLENDED PRODUCTION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</a:t>
            </a:r>
            <a:pPr indent="0" marL="0">
              <a:buNone/>
            </a:pPr>
            <a:r>
              <a:rPr lang="en-US" sz="1500" dirty="0">
                <a:solidFill>
                  <a:srgbClr val="4FC3C3"/>
                </a:solidFill>
              </a:rPr>
              <a:t>°C</a:t>
            </a:r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</a:rPr>
              <a:t>   ·   70.78 kg/s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297680" y="1554480"/>
            <a:ext cx="7269480" cy="1280160"/>
          </a:xfrm>
          <a:prstGeom prst="roundRect">
            <a:avLst>
              <a:gd name="adj" fmla="val 5714"/>
            </a:avLst>
          </a:prstGeom>
          <a:solidFill>
            <a:srgbClr val="EA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6642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F2A"/>
                </a:solidFill>
              </a:rPr>
              <a:t>Total geothermal power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2011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ṁ · Cp · ΔT  =  70.78 × 4.0 × (73 − 37.5)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4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≈ 10.05 MWth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310896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</a:rPr>
              <a:t>Geothermal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35844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10.05</a:t>
            </a:r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</a:rPr>
              <a:t> MWth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583680" y="34930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84848" y="310896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22008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</a:rPr>
              <a:t>+ Heat pump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22008" y="35844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</a:rPr>
              <a:t> MWth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070848" y="34930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72016" y="310896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09176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</a:rPr>
              <a:t>= Delivered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09176" y="35844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</a:t>
            </a:r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</a:rPr>
              <a:t> MWth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40080" y="4709160"/>
            <a:ext cx="10927080" cy="1508760"/>
          </a:xfrm>
          <a:prstGeom prst="roundRect">
            <a:avLst>
              <a:gd name="adj" fmla="val 606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5170018"/>
            <a:ext cx="404165" cy="40416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828800" y="4864608"/>
            <a:ext cx="9555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FC3C3"/>
                </a:solidFill>
              </a:rPr>
              <a:t>Honest engineering: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4EC"/>
                </a:solidFill>
              </a:rPr>
              <a:t>geothermal supply (10.05 MWth) and the heat-pump upgrade (0.45 MWth)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together meet the 10.5 MWth heating target — comfortably above the 10 MW minimum.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4EC"/>
                </a:solidFill>
              </a:rPr>
              <a:t>The heat pump is the engineered bridge from a low-enthalpy aquifer to a usable district supply temperature.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C3C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C3C3"/>
                </a:solidFill>
              </a:rPr>
              <a:t>SYSTEM DESIGN · FINDING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Centre, Storage &amp; Renewable Integration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D94F2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11096"/>
            <a:ext cx="548640" cy="548640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042770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Titanium Heat Exchanger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" y="2441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Separates corrosive brine from the clean district loop.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1C8C8C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911096"/>
            <a:ext cx="548640" cy="548640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42" y="204277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4648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Heat Pump (COP ≈ 2.25)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62856" y="2441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Upgrades 68→70 °C; +0.45 MWth on 0.2 MW electric.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47888" y="1911096"/>
            <a:ext cx="548640" cy="54864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204277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7968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ATES Seasonal Wells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66176" y="2441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Warm 15–35 °C, cold 8–15 °C — shifts heat &amp; cold across seasons.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200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3419856"/>
            <a:ext cx="548640" cy="548640"/>
          </a:xfrm>
          <a:prstGeom prst="ellipse">
            <a:avLst/>
          </a:prstGeom>
          <a:solidFill>
            <a:srgbClr val="F2A65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355153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81328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Buffer Tanks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59536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Hot 575 m³/20 MWh + cold 1,225 m³/10 MWh shave 4-hr peaks.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43400" y="3200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2C7A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44568" y="3419856"/>
            <a:ext cx="548640" cy="548640"/>
          </a:xfrm>
          <a:prstGeom prst="ellipse">
            <a:avLst/>
          </a:prstGeom>
          <a:solidFill>
            <a:srgbClr val="2C7A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242" y="355153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84648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Mechanical Chiller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62856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5 MWth cooling at 7/15 °C; rejects to ATES cold well.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46720" y="3200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6395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47888" y="3419856"/>
            <a:ext cx="548640" cy="54864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3551530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87968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1.5 MW Solar PV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66176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7E2"/>
                </a:solidFill>
              </a:rPr>
              <a:t>Covers all parasitic load (1.2 MW) — renewably self-sufficient.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FC3D2"/>
                </a:solidFill>
              </a:rPr>
              <a:t>Two-tier storage (seasonal ATES + daily buffer tanks) lets the wells run near-constant at their efficient point, decoupling continuous supply from seasonal demand.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9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 · FINDING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Demand &amp; Annual Dispatch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district_deman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2140"/>
            <a:ext cx="5212080" cy="256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2702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Monthly heating &amp; cooling demand vs capacity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9" name="Image 1" descr="assets/integrated_system_dis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29" y="1508760"/>
            <a:ext cx="3733678" cy="2651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42702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Integrated monthly dispatch — geothermal + storage + minimal backup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0080" y="4617720"/>
            <a:ext cx="82296" cy="141732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13" name="Text 9"/>
          <p:cNvSpPr/>
          <p:nvPr/>
        </p:nvSpPr>
        <p:spPr>
          <a:xfrm>
            <a:off x="804672" y="4709160"/>
            <a:ext cx="326440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&gt;95 %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22960" y="5411419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met by geothermal + storage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43400" y="4617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43400" y="4617720"/>
            <a:ext cx="82296" cy="141732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17" name="Text 13"/>
          <p:cNvSpPr/>
          <p:nvPr/>
        </p:nvSpPr>
        <p:spPr>
          <a:xfrm>
            <a:off x="4507992" y="4709160"/>
            <a:ext cx="326440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 MWth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526280" y="5411419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heating, every winter month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46720" y="4617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46720" y="4617720"/>
            <a:ext cx="82296" cy="141732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21" name="Text 17"/>
          <p:cNvSpPr/>
          <p:nvPr/>
        </p:nvSpPr>
        <p:spPr>
          <a:xfrm>
            <a:off x="8211312" y="4709160"/>
            <a:ext cx="326440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 MWth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8229600" y="5411419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cooling through summer peak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ECONOMICS · FINDING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Cost &amp; Levelised Cost of Energy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0408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capex_opex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43346"/>
            <a:ext cx="6766560" cy="29141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983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CAPEX composition (left) and annual operating costs (right)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" y="530352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39496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E8B84B"/>
                </a:solidFill>
              </a:rPr>
              <a:t>Depth-based drilling: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A38"/>
                </a:solidFill>
              </a:rPr>
              <a:t>each of 5 wells costed by its own depth — BLT-01 (1,700 m), GLA-01 (1,642 m), REINJ-01 (1,211 m), 2 ATES wells (150 m). Total drilling €25.5 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14173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09560" y="1417320"/>
            <a:ext cx="82296" cy="1508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2" name="Text 9"/>
          <p:cNvSpPr/>
          <p:nvPr/>
        </p:nvSpPr>
        <p:spPr>
          <a:xfrm>
            <a:off x="8074152" y="1508760"/>
            <a:ext cx="34015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€41.0 M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92440" y="226222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capital expenditure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9560" y="30632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09560" y="3063240"/>
            <a:ext cx="82296" cy="150876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16" name="Text 13"/>
          <p:cNvSpPr/>
          <p:nvPr/>
        </p:nvSpPr>
        <p:spPr>
          <a:xfrm>
            <a:off x="8074152" y="3154680"/>
            <a:ext cx="34015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€74.4/MWh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092440" y="390814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Base-case LCoE (EU range)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09560" y="470916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09560" y="4709160"/>
            <a:ext cx="82296" cy="150876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20" name="Text 17"/>
          <p:cNvSpPr/>
          <p:nvPr/>
        </p:nvSpPr>
        <p:spPr>
          <a:xfrm>
            <a:off x="8074152" y="4800600"/>
            <a:ext cx="34015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€1.23 M/yr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092440" y="555406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operating cost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11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ECONOMICS · FINDING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Uncertainty: 10,000-Run Monte Carlo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6" name="Image 0" descr="assets/monte_carlo_lc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5143"/>
            <a:ext cx="5212080" cy="2044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636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Probabilistic LCoE distribution (10,000 simulations)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9" name="Image 1" descr="assets/tornado_sensi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540980"/>
            <a:ext cx="5120640" cy="295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46360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7080"/>
                </a:solidFill>
              </a:rPr>
              <a:t>Tornado sensitivity — ±20 % on each parameter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40080" y="5029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C8C8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5138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8C8C"/>
                </a:solidFill>
              </a:rPr>
              <a:t>P10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€67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86384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/MWh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468880" y="5029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6395E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606040" y="5138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95E"/>
                </a:solidFill>
              </a:rPr>
              <a:t>P50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0604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€80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615184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/MWh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297680" y="5029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D94F2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434840" y="5138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F2A"/>
                </a:solidFill>
              </a:rPr>
              <a:t>P90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43484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€95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443984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/MWh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50292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446520" y="51389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B84B"/>
                </a:solidFill>
              </a:rPr>
              <a:t>Why this matters: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4EC"/>
                </a:solidFill>
              </a:rPr>
              <a:t>a single LCoE hides risk. Even at P90 the system stays within the EU district-heating range — robust, not just optimistic.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12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39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APPRAISAL · FINDING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Key Assumptions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38"/>
                </a:solidFill>
              </a:rPr>
              <a:t>We state our boundaries plainly — a credible design is one whose limits are understood.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2391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57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F2A"/>
                </a:solidFill>
              </a:rPr>
              <a:t>Known Limitations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2A47"/>
                </a:solidFill>
              </a:rPr>
              <a:t>•  No coupled reservoir simulation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080"/>
                </a:solidFill>
              </a:rPr>
              <a:t>steady-state flow assumed; thermal drawdown over time not modelled.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41985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2A47"/>
                </a:solidFill>
              </a:rPr>
              <a:t>•  GLA-01 is a hypothetical target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080"/>
                </a:solidFill>
              </a:rPr>
              <a:t>not an existing well — new drilling carries delivery uncertainty.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09651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2A47"/>
                </a:solidFill>
              </a:rPr>
              <a:t>•  Simplified demand profiles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080"/>
                </a:solidFill>
              </a:rPr>
              <a:t>no hourly district consumption data within the challenge framework.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477316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2A47"/>
                </a:solidFill>
              </a:rPr>
              <a:t>•  ThermoGIS P50 used deterministically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080"/>
                </a:solidFill>
              </a:rPr>
              <a:t>full probabilistic reservoir coupling not implemented.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44982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2A47"/>
                </a:solidFill>
              </a:rPr>
              <a:t>•  ATES integration is conceptual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080"/>
                </a:solidFill>
              </a:rPr>
              <a:t>no groundwater-flow simulation performed.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87452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2103120"/>
            <a:ext cx="566928" cy="566928"/>
          </a:xfrm>
          <a:prstGeom prst="ellipse">
            <a:avLst/>
          </a:prstGeom>
          <a:solidFill>
            <a:srgbClr val="4FC3C3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223918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2157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C3"/>
                </a:solidFill>
              </a:rPr>
              <a:t>Key Assumptions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3796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Brine properties: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ρ = 1040 kg/m³ · Cp = 4.0 kJ/kg·K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37960" y="3355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Reinjection temperature: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35–40 °C after heat extraction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37960" y="39227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District regime: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70 °C supply / 40 °C return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44897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Heat pump COP: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2.25 (68→70 °C upgrade)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37960" y="50566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Economic lifetime: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15 years, 6 % discount rate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53796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Demand basis: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10 MWth heat / 5 MWth cool (minimums)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13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84B"/>
                </a:solidFill>
              </a:rPr>
              <a:t>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Submission Stands 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27080" cy="987552"/>
          </a:xfrm>
          <a:prstGeom prst="roundRect">
            <a:avLst>
              <a:gd name="adj" fmla="val 7407"/>
            </a:avLst>
          </a:prstGeom>
          <a:solidFill>
            <a:srgbClr val="16395E"/>
          </a:solidFill>
          <a:ln w="9525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02536"/>
            <a:ext cx="566928" cy="566928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13859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9293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Data-engineering rigour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20640" y="1901952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TVD depth correction, hidden-null detection and a caught label error — quiet mistakes most teams carry forward.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898648"/>
            <a:ext cx="10927080" cy="987552"/>
          </a:xfrm>
          <a:prstGeom prst="roundRect">
            <a:avLst>
              <a:gd name="adj" fmla="val 7407"/>
            </a:avLst>
          </a:prstGeom>
          <a:solidFill>
            <a:srgbClr val="16395E"/>
          </a:solidFill>
          <a:ln w="9525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18104"/>
            <a:ext cx="566928" cy="566928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325416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27632" y="30449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True system integration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120640" y="301752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Geothermal + reinjection + heat pump + chiller + ATES + buffer tanks + solar — a complete energy system, not a single well.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014216"/>
            <a:ext cx="10927080" cy="987552"/>
          </a:xfrm>
          <a:prstGeom prst="roundRect">
            <a:avLst>
              <a:gd name="adj" fmla="val 7407"/>
            </a:avLst>
          </a:prstGeom>
          <a:solidFill>
            <a:srgbClr val="16395E"/>
          </a:solidFill>
          <a:ln w="9525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233672"/>
            <a:ext cx="566928" cy="566928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436973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1605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Uncertainty-aware economics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120640" y="4133088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A full Monte Carlo risk profile (P10/P50/P90), not a single hopeful LCoE — the language investors trust.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5129784"/>
            <a:ext cx="10927080" cy="987552"/>
          </a:xfrm>
          <a:prstGeom prst="roundRect">
            <a:avLst>
              <a:gd name="adj" fmla="val 7407"/>
            </a:avLst>
          </a:prstGeom>
          <a:solidFill>
            <a:srgbClr val="16395E"/>
          </a:solidFill>
          <a:ln w="9525">
            <a:solidFill>
              <a:srgbClr val="E8B84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5349240"/>
            <a:ext cx="566928" cy="566928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548530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527608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Honest, defensible engineering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120640" y="5248656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7D7E2"/>
                </a:solidFill>
              </a:rPr>
              <a:t>We state plainly that geothermal + heat pump together meet 10.5 MWth, framing the margin as deliberate efficient design.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</a:rPr>
              <a:t>14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</a:rPr>
              <a:t>GeoLogic Analytics  ·  SPE Africa Geothermal Datathon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8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411480"/>
          </a:xfrm>
          <a:prstGeom prst="rect">
            <a:avLst/>
          </a:prstGeom>
          <a:solidFill>
            <a:srgbClr val="D94F2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826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C7D7E2"/>
                </a:solidFill>
              </a:rPr>
              <a:t>Utrecht can be supplied with firm, low-carbon district heating and cooling from a low-enthalpy aquifer — delivered by rigorous data engineering, integrated thermal design, and economics that survive scrutiny under uncertainty.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2514600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9525">
            <a:solidFill>
              <a:srgbClr val="4FC3C3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75" y="2783799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06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Drill an appraisal well at GLA-01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7E2"/>
                </a:solidFill>
              </a:rPr>
              <a:t>— Convert the hypothetical corridor to a proven producer before final investment — the single biggest uncertainty.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" y="3429000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9525">
            <a:solidFill>
              <a:srgbClr val="4FC3C3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575304"/>
            <a:ext cx="512064" cy="512064"/>
          </a:xfrm>
          <a:prstGeom prst="ellipse">
            <a:avLst/>
          </a:prstGeom>
          <a:solidFill>
            <a:srgbClr val="D94F2A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75" y="3698199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Acquire hourly demand data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7E2"/>
                </a:solidFill>
              </a:rPr>
              <a:t>— Replace the simplified seasonal profile with metered consumption to refine storage sizing.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8368" y="4343400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9525">
            <a:solidFill>
              <a:srgbClr val="4FC3C3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2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489704"/>
            <a:ext cx="512064" cy="512064"/>
          </a:xfrm>
          <a:prstGeom prst="ellipse">
            <a:avLst/>
          </a:prstGeom>
          <a:solidFill>
            <a:srgbClr val="1C8C8C"/>
          </a:solidFill>
          <a:ln/>
          <a:effectLst>
            <a:outerShdw sx="100000" sy="100000" kx="0" ky="0" algn="bl" rotWithShape="0" blurRad="88900" dist="25400" dir="8100000">
              <a:srgbClr val="1B2A38">
                <a:alpha val="14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" y="4612599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434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Run a coupled reservoir + ATES model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7E2"/>
                </a:solidFill>
              </a:rPr>
              <a:t>— Quantify thermal drawdown and groundwater interaction over the 30-year life.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595360" y="2514600"/>
            <a:ext cx="297180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15875">
            <a:solidFill>
              <a:srgbClr val="D94F2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759952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 / 5.0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877824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MWth heat / cool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595360" y="3429000"/>
            <a:ext cx="297180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759952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€74/MWh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877824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Base-case LCoE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595360" y="4343400"/>
            <a:ext cx="2971800" cy="804672"/>
          </a:xfrm>
          <a:prstGeom prst="roundRect">
            <a:avLst>
              <a:gd name="adj" fmla="val 9091"/>
            </a:avLst>
          </a:prstGeom>
          <a:solidFill>
            <a:srgbClr val="16395E"/>
          </a:solidFill>
          <a:ln w="15875">
            <a:solidFill>
              <a:srgbClr val="1C8C8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759952" y="4434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&gt;95 %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8778240" y="4846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2"/>
                </a:solidFill>
              </a:rPr>
              <a:t>Geothermal share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64190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Team GeoLogic Analytics  ·  SPE Africa Geothermal Datathon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Geothermal District Energy System — Utrecht</dc:title>
  <dc:subject>PptxGenJS Presentation</dc:subject>
  <dc:creator>Team GeoLogic Analytics</dc:creator>
  <cp:lastModifiedBy>Team GeoLogic Analytics</cp:lastModifiedBy>
  <cp:revision>1</cp:revision>
  <dcterms:created xsi:type="dcterms:W3CDTF">2026-06-06T11:39:28Z</dcterms:created>
  <dcterms:modified xsi:type="dcterms:W3CDTF">2026-06-06T11:39:28Z</dcterms:modified>
</cp:coreProperties>
</file>